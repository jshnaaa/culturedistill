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9" r:id="rId2"/>
    <p:sldId id="260" r:id="rId3"/>
    <p:sldId id="258" r:id="rId4"/>
    <p:sldId id="261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DC96"/>
    <a:srgbClr val="587E95"/>
    <a:srgbClr val="B3C6C7"/>
    <a:srgbClr val="617D58"/>
    <a:srgbClr val="C0CEB6"/>
    <a:srgbClr val="ABB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78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0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5.wdp"/><Relationship Id="rId18" Type="http://schemas.openxmlformats.org/officeDocument/2006/relationships/image" Target="../media/image10.png"/><Relationship Id="rId26" Type="http://schemas.microsoft.com/office/2007/relationships/hdphoto" Target="../media/hdphoto14.wdp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17" Type="http://schemas.microsoft.com/office/2007/relationships/hdphoto" Target="../media/hdphoto7.wdp"/><Relationship Id="rId25" Type="http://schemas.microsoft.com/office/2007/relationships/hdphoto" Target="../media/hdphoto13.wdp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4.wdp"/><Relationship Id="rId24" Type="http://schemas.microsoft.com/office/2007/relationships/hdphoto" Target="../media/hdphoto12.wdp"/><Relationship Id="rId5" Type="http://schemas.openxmlformats.org/officeDocument/2006/relationships/image" Target="../media/image2.png"/><Relationship Id="rId15" Type="http://schemas.microsoft.com/office/2007/relationships/hdphoto" Target="../media/hdphoto6.wdp"/><Relationship Id="rId23" Type="http://schemas.microsoft.com/office/2007/relationships/hdphoto" Target="../media/hdphoto11.wdp"/><Relationship Id="rId10" Type="http://schemas.openxmlformats.org/officeDocument/2006/relationships/image" Target="../media/image6.png"/><Relationship Id="rId19" Type="http://schemas.microsoft.com/office/2007/relationships/hdphoto" Target="../media/hdphoto8.wdp"/><Relationship Id="rId4" Type="http://schemas.microsoft.com/office/2007/relationships/hdphoto" Target="../media/hdphoto2.wdp"/><Relationship Id="rId9" Type="http://schemas.openxmlformats.org/officeDocument/2006/relationships/image" Target="../media/image5.png"/><Relationship Id="rId14" Type="http://schemas.openxmlformats.org/officeDocument/2006/relationships/image" Target="../media/image8.png"/><Relationship Id="rId22" Type="http://schemas.microsoft.com/office/2007/relationships/hdphoto" Target="../media/hdphoto10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6.wdp"/><Relationship Id="rId18" Type="http://schemas.microsoft.com/office/2007/relationships/hdphoto" Target="../media/hdphoto12.wdp"/><Relationship Id="rId26" Type="http://schemas.microsoft.com/office/2007/relationships/hdphoto" Target="../media/hdphoto9.wdp"/><Relationship Id="rId3" Type="http://schemas.microsoft.com/office/2007/relationships/hdphoto" Target="../media/hdphoto1.wdp"/><Relationship Id="rId21" Type="http://schemas.openxmlformats.org/officeDocument/2006/relationships/image" Target="../media/image3.png"/><Relationship Id="rId7" Type="http://schemas.microsoft.com/office/2007/relationships/hdphoto" Target="../media/hdphoto3.wdp"/><Relationship Id="rId12" Type="http://schemas.openxmlformats.org/officeDocument/2006/relationships/image" Target="../media/image8.png"/><Relationship Id="rId17" Type="http://schemas.microsoft.com/office/2007/relationships/hdphoto" Target="../media/hdphoto11.wdp"/><Relationship Id="rId25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microsoft.com/office/2007/relationships/hdphoto" Target="../media/hdphoto10.wdp"/><Relationship Id="rId20" Type="http://schemas.microsoft.com/office/2007/relationships/hdphoto" Target="../media/hdphoto14.wdp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07/relationships/hdphoto" Target="../media/hdphoto5.wdp"/><Relationship Id="rId24" Type="http://schemas.openxmlformats.org/officeDocument/2006/relationships/image" Target="../media/image13.png"/><Relationship Id="rId5" Type="http://schemas.openxmlformats.org/officeDocument/2006/relationships/image" Target="../media/image2.png"/><Relationship Id="rId15" Type="http://schemas.microsoft.com/office/2007/relationships/hdphoto" Target="../media/hdphoto7.wdp"/><Relationship Id="rId23" Type="http://schemas.openxmlformats.org/officeDocument/2006/relationships/image" Target="../media/image12.png"/><Relationship Id="rId28" Type="http://schemas.openxmlformats.org/officeDocument/2006/relationships/image" Target="../media/image15.png"/><Relationship Id="rId10" Type="http://schemas.openxmlformats.org/officeDocument/2006/relationships/image" Target="../media/image7.png"/><Relationship Id="rId19" Type="http://schemas.microsoft.com/office/2007/relationships/hdphoto" Target="../media/hdphoto13.wdp"/><Relationship Id="rId4" Type="http://schemas.microsoft.com/office/2007/relationships/hdphoto" Target="../media/hdphoto2.wdp"/><Relationship Id="rId9" Type="http://schemas.microsoft.com/office/2007/relationships/hdphoto" Target="../media/hdphoto4.wdp"/><Relationship Id="rId14" Type="http://schemas.openxmlformats.org/officeDocument/2006/relationships/image" Target="../media/image9.png"/><Relationship Id="rId22" Type="http://schemas.openxmlformats.org/officeDocument/2006/relationships/image" Target="../media/image4.png"/><Relationship Id="rId27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8.wdp"/><Relationship Id="rId3" Type="http://schemas.microsoft.com/office/2007/relationships/hdphoto" Target="../media/hdphoto3.wdp"/><Relationship Id="rId7" Type="http://schemas.microsoft.com/office/2007/relationships/hdphoto" Target="../media/hdphoto5.wdp"/><Relationship Id="rId12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microsoft.com/office/2007/relationships/hdphoto" Target="../media/hdphoto6.wdp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97155" y="377190"/>
            <a:ext cx="12018645" cy="5694680"/>
            <a:chOff x="273" y="594"/>
            <a:chExt cx="18927" cy="8968"/>
          </a:xfrm>
        </p:grpSpPr>
        <p:grpSp>
          <p:nvGrpSpPr>
            <p:cNvPr id="77" name="组合 76"/>
            <p:cNvGrpSpPr/>
            <p:nvPr/>
          </p:nvGrpSpPr>
          <p:grpSpPr>
            <a:xfrm>
              <a:off x="273" y="594"/>
              <a:ext cx="18927" cy="8968"/>
              <a:chOff x="173180" y="191040"/>
              <a:chExt cx="12018820" cy="5694814"/>
            </a:xfrm>
          </p:grpSpPr>
          <p:grpSp>
            <p:nvGrpSpPr>
              <p:cNvPr id="70" name="组合 69"/>
              <p:cNvGrpSpPr/>
              <p:nvPr/>
            </p:nvGrpSpPr>
            <p:grpSpPr>
              <a:xfrm>
                <a:off x="173180" y="191040"/>
                <a:ext cx="12018820" cy="5694814"/>
                <a:chOff x="86589" y="176050"/>
                <a:chExt cx="12018820" cy="5694814"/>
              </a:xfrm>
            </p:grpSpPr>
            <p:grpSp>
              <p:nvGrpSpPr>
                <p:cNvPr id="69" name="组合 68"/>
                <p:cNvGrpSpPr/>
                <p:nvPr/>
              </p:nvGrpSpPr>
              <p:grpSpPr>
                <a:xfrm>
                  <a:off x="6165271" y="181841"/>
                  <a:ext cx="5940138" cy="5689023"/>
                  <a:chOff x="6165271" y="181841"/>
                  <a:chExt cx="5940138" cy="5689023"/>
                </a:xfrm>
              </p:grpSpPr>
              <p:sp>
                <p:nvSpPr>
                  <p:cNvPr id="3" name="Rounded Rectangle 2"/>
                  <p:cNvSpPr/>
                  <p:nvPr/>
                </p:nvSpPr>
                <p:spPr>
                  <a:xfrm>
                    <a:off x="6165273" y="181841"/>
                    <a:ext cx="5940136" cy="5689023"/>
                  </a:xfrm>
                  <a:prstGeom prst="roundRect">
                    <a:avLst/>
                  </a:prstGeom>
                  <a:solidFill>
                    <a:srgbClr val="EEF3EA"/>
                  </a:solidFill>
                  <a:ln w="17780">
                    <a:solidFill>
                      <a:srgbClr val="829476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" name="TextBox 4"/>
                  <p:cNvSpPr txBox="1"/>
                  <p:nvPr/>
                </p:nvSpPr>
                <p:spPr>
                  <a:xfrm>
                    <a:off x="6165271" y="190088"/>
                    <a:ext cx="5940135" cy="4921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Stage 2: </a:t>
                    </a:r>
                    <a:r>
                      <a:rPr lang="en-US" altLang="zh-CN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Culture-Aware</a:t>
                    </a:r>
                    <a:r>
                      <a:rPr lang="zh-CN" altLang="en-US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Hybrid Adaptive Distillation</a:t>
                    </a:r>
                  </a:p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CAHAD</a:t>
                    </a:r>
                  </a:p>
                </p:txBody>
              </p:sp>
              <p:sp>
                <p:nvSpPr>
                  <p:cNvPr id="111" name="TextBox 110"/>
                  <p:cNvSpPr txBox="1"/>
                  <p:nvPr/>
                </p:nvSpPr>
                <p:spPr>
                  <a:xfrm>
                    <a:off x="8368633" y="1509589"/>
                    <a:ext cx="1125682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4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Student LLM</a:t>
                    </a:r>
                  </a:p>
                </p:txBody>
              </p:sp>
              <p:sp>
                <p:nvSpPr>
                  <p:cNvPr id="120" name="TextBox 119"/>
                  <p:cNvSpPr txBox="1"/>
                  <p:nvPr/>
                </p:nvSpPr>
                <p:spPr>
                  <a:xfrm>
                    <a:off x="6493614" y="2299218"/>
                    <a:ext cx="1428750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400" b="1" i="0" dirty="0">
                        <a:solidFill>
                          <a:srgbClr val="627D59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Adaptive mixer</a:t>
                    </a:r>
                  </a:p>
                </p:txBody>
              </p:sp>
              <p:sp>
                <p:nvSpPr>
                  <p:cNvPr id="130" name="TextBox 129"/>
                  <p:cNvSpPr txBox="1"/>
                  <p:nvPr/>
                </p:nvSpPr>
                <p:spPr>
                  <a:xfrm>
                    <a:off x="6501074" y="4367973"/>
                    <a:ext cx="762000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Hit-rate</a:t>
                    </a:r>
                  </a:p>
                  <a:p>
                    <a:pPr algn="ctr"/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feedback</a:t>
                    </a:r>
                  </a:p>
                </p:txBody>
              </p:sp>
              <p:sp>
                <p:nvSpPr>
                  <p:cNvPr id="133" name="TextBox 132"/>
                  <p:cNvSpPr txBox="1"/>
                  <p:nvPr/>
                </p:nvSpPr>
                <p:spPr>
                  <a:xfrm>
                    <a:off x="8252114" y="2123557"/>
                    <a:ext cx="1186296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1" i="0" dirty="0">
                        <a:solidFill>
                          <a:srgbClr val="587E95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Guide branch</a:t>
                    </a:r>
                  </a:p>
                </p:txBody>
              </p:sp>
              <p:sp>
                <p:nvSpPr>
                  <p:cNvPr id="135" name="TextBox 134"/>
                  <p:cNvSpPr txBox="1"/>
                  <p:nvPr/>
                </p:nvSpPr>
                <p:spPr>
                  <a:xfrm>
                    <a:off x="8278091" y="2612186"/>
                    <a:ext cx="1298864" cy="16158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050" b="0" i="0" dirty="0">
                        <a:solidFill>
                          <a:srgbClr val="47617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Guardian guide signal</a:t>
                    </a:r>
                  </a:p>
                </p:txBody>
              </p:sp>
              <p:sp>
                <p:nvSpPr>
                  <p:cNvPr id="136" name="Rounded Rectangle 135"/>
                  <p:cNvSpPr/>
                  <p:nvPr/>
                </p:nvSpPr>
                <p:spPr>
                  <a:xfrm>
                    <a:off x="9776114" y="2034886"/>
                    <a:ext cx="1404129" cy="666750"/>
                  </a:xfrm>
                  <a:prstGeom prst="roundRect">
                    <a:avLst/>
                  </a:prstGeom>
                  <a:solidFill>
                    <a:srgbClr val="DBE5E9"/>
                  </a:solidFill>
                  <a:ln w="12700">
                    <a:solidFill>
                      <a:srgbClr val="587E9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altLang="zh-CN" sz="16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Online RL</a:t>
                    </a:r>
                  </a:p>
                </p:txBody>
              </p:sp>
              <p:sp>
                <p:nvSpPr>
                  <p:cNvPr id="138" name="TextBox 137"/>
                  <p:cNvSpPr txBox="1"/>
                  <p:nvPr/>
                </p:nvSpPr>
                <p:spPr>
                  <a:xfrm>
                    <a:off x="8269431" y="3222722"/>
                    <a:ext cx="1253530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1" i="0" dirty="0">
                        <a:solidFill>
                          <a:srgbClr val="627D59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Anchor branch</a:t>
                    </a:r>
                  </a:p>
                </p:txBody>
              </p:sp>
              <p:sp>
                <p:nvSpPr>
                  <p:cNvPr id="140" name="TextBox 139"/>
                  <p:cNvSpPr txBox="1"/>
                  <p:nvPr/>
                </p:nvSpPr>
                <p:spPr>
                  <a:xfrm>
                    <a:off x="8237212" y="3815970"/>
                    <a:ext cx="135081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000" b="0" i="0" dirty="0">
                        <a:solidFill>
                          <a:srgbClr val="4B6243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Judge answer</a:t>
                    </a:r>
                  </a:p>
                </p:txBody>
              </p:sp>
              <p:sp>
                <p:nvSpPr>
                  <p:cNvPr id="141" name="Rounded Rectangle 140"/>
                  <p:cNvSpPr/>
                  <p:nvPr/>
                </p:nvSpPr>
                <p:spPr>
                  <a:xfrm>
                    <a:off x="9776114" y="3272390"/>
                    <a:ext cx="1404129" cy="666750"/>
                  </a:xfrm>
                  <a:prstGeom prst="roundRect">
                    <a:avLst/>
                  </a:prstGeom>
                  <a:solidFill>
                    <a:srgbClr val="DDE4D2"/>
                  </a:solidFill>
                  <a:ln w="12700">
                    <a:solidFill>
                      <a:srgbClr val="627D59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Cross-Entropy SFT</a:t>
                    </a:r>
                  </a:p>
                </p:txBody>
              </p:sp>
              <p:sp>
                <p:nvSpPr>
                  <p:cNvPr id="144" name="TextBox 143"/>
                  <p:cNvSpPr txBox="1"/>
                  <p:nvPr/>
                </p:nvSpPr>
                <p:spPr>
                  <a:xfrm>
                    <a:off x="7247659" y="4997096"/>
                    <a:ext cx="129886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Student response</a:t>
                    </a:r>
                  </a:p>
                </p:txBody>
              </p:sp>
              <p:sp>
                <p:nvSpPr>
                  <p:cNvPr id="154" name="Rounded Rectangle 153"/>
                  <p:cNvSpPr/>
                  <p:nvPr/>
                </p:nvSpPr>
                <p:spPr>
                  <a:xfrm>
                    <a:off x="9755814" y="5094446"/>
                    <a:ext cx="1030432" cy="311727"/>
                  </a:xfrm>
                  <a:prstGeom prst="roundRect">
                    <a:avLst/>
                  </a:prstGeom>
                  <a:solidFill>
                    <a:srgbClr val="E2D5BF"/>
                  </a:solidFill>
                  <a:ln w="10160">
                    <a:solidFill>
                      <a:srgbClr val="B1A08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altLang="zh-CN"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Benchmark</a:t>
                    </a:r>
                  </a:p>
                </p:txBody>
              </p:sp>
              <p:sp>
                <p:nvSpPr>
                  <p:cNvPr id="160" name="TextBox 159"/>
                  <p:cNvSpPr txBox="1"/>
                  <p:nvPr/>
                </p:nvSpPr>
                <p:spPr>
                  <a:xfrm rot="5400000">
                    <a:off x="10142504" y="3003337"/>
                    <a:ext cx="3370802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Joint SFT-RL Optimization Loop</a:t>
                    </a:r>
                  </a:p>
                </p:txBody>
              </p:sp>
              <p:grpSp>
                <p:nvGrpSpPr>
                  <p:cNvPr id="207" name="组合 206"/>
                  <p:cNvGrpSpPr/>
                  <p:nvPr/>
                </p:nvGrpSpPr>
                <p:grpSpPr>
                  <a:xfrm>
                    <a:off x="8226137" y="4460004"/>
                    <a:ext cx="1350818" cy="952133"/>
                    <a:chOff x="8226137" y="4909704"/>
                    <a:chExt cx="1350818" cy="952133"/>
                  </a:xfrm>
                </p:grpSpPr>
                <p:sp>
                  <p:nvSpPr>
                    <p:cNvPr id="148" name="TextBox 147"/>
                    <p:cNvSpPr txBox="1"/>
                    <p:nvPr/>
                  </p:nvSpPr>
                  <p:spPr>
                    <a:xfrm>
                      <a:off x="8226137" y="5646393"/>
                      <a:ext cx="135081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Student</a:t>
                      </a:r>
                      <a:r>
                        <a:rPr lang="zh-CN" altLang="en-US" sz="140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sz="140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LLM</a:t>
                      </a:r>
                    </a:p>
                  </p:txBody>
                </p:sp>
                <p:pic>
                  <p:nvPicPr>
                    <p:cNvPr id="177" name="图片 176"/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ackgroundRemoval t="65430" b="85985" l="87868" r="98325"/>
                              </a14:imgEffect>
                            </a14:imgLayer>
                          </a14:imgProps>
                        </a:ext>
                      </a:extLst>
                    </a:blip>
                    <a:srcRect l="86561" t="62861" r="368" b="11446"/>
                    <a:stretch>
                      <a:fillRect/>
                    </a:stretch>
                  </p:blipFill>
                  <p:spPr>
                    <a:xfrm>
                      <a:off x="8572500" y="4909704"/>
                      <a:ext cx="655182" cy="700771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51" name="图片 250"/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65430" b="85985" l="87868" r="98325"/>
                            </a14:imgEffect>
                          </a14:imgLayer>
                        </a14:imgProps>
                      </a:ext>
                    </a:extLst>
                  </a:blip>
                  <a:srcRect l="86561" t="62861" r="368" b="11446"/>
                  <a:stretch>
                    <a:fillRect/>
                  </a:stretch>
                </p:blipFill>
                <p:spPr>
                  <a:xfrm>
                    <a:off x="8586660" y="865510"/>
                    <a:ext cx="655182" cy="700771"/>
                  </a:xfrm>
                  <a:prstGeom prst="rect">
                    <a:avLst/>
                  </a:prstGeom>
                </p:spPr>
              </p:pic>
              <p:pic>
                <p:nvPicPr>
                  <p:cNvPr id="258" name="图片 257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9939575" y="4536499"/>
                    <a:ext cx="528259" cy="528259"/>
                  </a:xfrm>
                  <a:prstGeom prst="rect">
                    <a:avLst/>
                  </a:prstGeom>
                </p:spPr>
              </p:pic>
              <p:cxnSp>
                <p:nvCxnSpPr>
                  <p:cNvPr id="263" name="肘形连接符 262"/>
                  <p:cNvCxnSpPr>
                    <a:endCxn id="124" idx="2"/>
                  </p:cNvCxnSpPr>
                  <p:nvPr/>
                </p:nvCxnSpPr>
                <p:spPr>
                  <a:xfrm rot="5400000" flipH="1" flipV="1">
                    <a:off x="5738997" y="4356465"/>
                    <a:ext cx="2184932" cy="506293"/>
                  </a:xfrm>
                  <a:prstGeom prst="bentConnector2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" name="肘形连接符 264"/>
                  <p:cNvCxnSpPr>
                    <a:stCxn id="177" idx="1"/>
                    <a:endCxn id="124" idx="4"/>
                  </p:cNvCxnSpPr>
                  <p:nvPr/>
                </p:nvCxnSpPr>
                <p:spPr>
                  <a:xfrm rot="10800000">
                    <a:off x="7264610" y="3697146"/>
                    <a:ext cx="1307890" cy="1113245"/>
                  </a:xfrm>
                  <a:prstGeom prst="bentConnector2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肘形连接符 267"/>
                  <p:cNvCxnSpPr>
                    <a:stCxn id="251" idx="3"/>
                    <a:endCxn id="258" idx="3"/>
                  </p:cNvCxnSpPr>
                  <p:nvPr/>
                </p:nvCxnSpPr>
                <p:spPr>
                  <a:xfrm>
                    <a:off x="9241842" y="1215896"/>
                    <a:ext cx="1225992" cy="3584733"/>
                  </a:xfrm>
                  <a:prstGeom prst="bentConnector3">
                    <a:avLst>
                      <a:gd name="adj1" fmla="val 192008"/>
                    </a:avLst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肘形连接符 17"/>
                  <p:cNvCxnSpPr>
                    <a:stCxn id="258" idx="1"/>
                  </p:cNvCxnSpPr>
                  <p:nvPr/>
                </p:nvCxnSpPr>
                <p:spPr>
                  <a:xfrm rot="10800000">
                    <a:off x="9241843" y="4800629"/>
                    <a:ext cx="697733" cy="1"/>
                  </a:xfrm>
                  <a:prstGeom prst="bentConnector3">
                    <a:avLst>
                      <a:gd name="adj1" fmla="val 50000"/>
                    </a:avLst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斜纹 21"/>
                  <p:cNvSpPr/>
                  <p:nvPr/>
                </p:nvSpPr>
                <p:spPr>
                  <a:xfrm rot="7068015" flipV="1">
                    <a:off x="7436845" y="2608098"/>
                    <a:ext cx="935310" cy="365845"/>
                  </a:xfrm>
                  <a:prstGeom prst="diagStripe">
                    <a:avLst/>
                  </a:prstGeom>
                  <a:solidFill>
                    <a:srgbClr val="ABBECC"/>
                  </a:solidFill>
                  <a:ln>
                    <a:solidFill>
                      <a:srgbClr val="587E9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34" name="Right Arrow 133"/>
                  <p:cNvSpPr/>
                  <p:nvPr/>
                </p:nvSpPr>
                <p:spPr>
                  <a:xfrm>
                    <a:off x="8094892" y="2268681"/>
                    <a:ext cx="1689880" cy="432954"/>
                  </a:xfrm>
                  <a:prstGeom prst="rightArrow">
                    <a:avLst/>
                  </a:prstGeom>
                  <a:solidFill>
                    <a:srgbClr val="AABECC"/>
                  </a:solidFill>
                  <a:ln w="10160">
                    <a:solidFill>
                      <a:srgbClr val="587E9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24" name="矩形 23"/>
                  <p:cNvSpPr/>
                  <p:nvPr/>
                </p:nvSpPr>
                <p:spPr>
                  <a:xfrm rot="3021261">
                    <a:off x="7459085" y="3273768"/>
                    <a:ext cx="845152" cy="153460"/>
                  </a:xfrm>
                  <a:prstGeom prst="rect">
                    <a:avLst/>
                  </a:prstGeom>
                  <a:solidFill>
                    <a:srgbClr val="C0CEB6"/>
                  </a:solidFill>
                  <a:ln>
                    <a:solidFill>
                      <a:srgbClr val="617D58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39" name="Right Arrow 138"/>
                  <p:cNvSpPr/>
                  <p:nvPr/>
                </p:nvSpPr>
                <p:spPr>
                  <a:xfrm>
                    <a:off x="8094892" y="3392382"/>
                    <a:ext cx="1689880" cy="432954"/>
                  </a:xfrm>
                  <a:prstGeom prst="rightArrow">
                    <a:avLst/>
                  </a:prstGeom>
                  <a:solidFill>
                    <a:srgbClr val="C0CDB6"/>
                  </a:solidFill>
                  <a:ln w="10160">
                    <a:solidFill>
                      <a:srgbClr val="627D59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cxnSp>
                <p:nvCxnSpPr>
                  <p:cNvPr id="26" name="肘形连接符 25"/>
                  <p:cNvCxnSpPr>
                    <a:endCxn id="141" idx="3"/>
                  </p:cNvCxnSpPr>
                  <p:nvPr/>
                </p:nvCxnSpPr>
                <p:spPr>
                  <a:xfrm flipH="1" flipV="1">
                    <a:off x="11180243" y="3605765"/>
                    <a:ext cx="434541" cy="2"/>
                  </a:xfrm>
                  <a:prstGeom prst="straightConnector1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肘形连接符 25"/>
                  <p:cNvCxnSpPr>
                    <a:endCxn id="136" idx="3"/>
                  </p:cNvCxnSpPr>
                  <p:nvPr/>
                </p:nvCxnSpPr>
                <p:spPr>
                  <a:xfrm flipH="1">
                    <a:off x="11180243" y="2368261"/>
                    <a:ext cx="434541" cy="0"/>
                  </a:xfrm>
                  <a:prstGeom prst="straightConnector1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59" name="组合 258"/>
                  <p:cNvGrpSpPr/>
                  <p:nvPr/>
                </p:nvGrpSpPr>
                <p:grpSpPr>
                  <a:xfrm>
                    <a:off x="6758490" y="2755874"/>
                    <a:ext cx="1004455" cy="941271"/>
                    <a:chOff x="6857999" y="2526623"/>
                    <a:chExt cx="1004455" cy="941271"/>
                  </a:xfrm>
                </p:grpSpPr>
                <p:sp>
                  <p:nvSpPr>
                    <p:cNvPr id="122" name="Isosceles Triangle 121"/>
                    <p:cNvSpPr/>
                    <p:nvPr/>
                  </p:nvSpPr>
                  <p:spPr>
                    <a:xfrm rot="10800000">
                      <a:off x="6857999" y="2526623"/>
                      <a:ext cx="1004455" cy="607561"/>
                    </a:xfrm>
                    <a:prstGeom prst="triangle">
                      <a:avLst/>
                    </a:prstGeom>
                    <a:solidFill>
                      <a:srgbClr val="B2C6C6"/>
                    </a:solidFill>
                    <a:ln w="12700">
                      <a:solidFill>
                        <a:srgbClr val="76808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23" name="Rectangle 122"/>
                    <p:cNvSpPr/>
                    <p:nvPr/>
                  </p:nvSpPr>
                  <p:spPr>
                    <a:xfrm>
                      <a:off x="7299614" y="3030681"/>
                      <a:ext cx="121227" cy="242455"/>
                    </a:xfrm>
                    <a:prstGeom prst="rect">
                      <a:avLst/>
                    </a:prstGeom>
                    <a:solidFill>
                      <a:srgbClr val="B2C6C6"/>
                    </a:solidFill>
                    <a:ln w="10160">
                      <a:solidFill>
                        <a:srgbClr val="76808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24" name="Oval 123"/>
                    <p:cNvSpPr/>
                    <p:nvPr/>
                  </p:nvSpPr>
                  <p:spPr>
                    <a:xfrm>
                      <a:off x="7184119" y="3107894"/>
                      <a:ext cx="360000" cy="360000"/>
                    </a:xfrm>
                    <a:prstGeom prst="ellipse">
                      <a:avLst/>
                    </a:prstGeom>
                    <a:solidFill>
                      <a:srgbClr val="D6E4CE"/>
                    </a:solidFill>
                    <a:ln w="11430">
                      <a:solidFill>
                        <a:srgbClr val="6A845C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</p:grpSp>
            <p:grpSp>
              <p:nvGrpSpPr>
                <p:cNvPr id="68" name="组合 67"/>
                <p:cNvGrpSpPr/>
                <p:nvPr/>
              </p:nvGrpSpPr>
              <p:grpSpPr>
                <a:xfrm>
                  <a:off x="86589" y="176050"/>
                  <a:ext cx="6491727" cy="5694814"/>
                  <a:chOff x="86589" y="176050"/>
                  <a:chExt cx="6491727" cy="5694814"/>
                </a:xfrm>
              </p:grpSpPr>
              <p:sp>
                <p:nvSpPr>
                  <p:cNvPr id="2" name="Rounded Rectangle 1"/>
                  <p:cNvSpPr/>
                  <p:nvPr/>
                </p:nvSpPr>
                <p:spPr>
                  <a:xfrm>
                    <a:off x="86591" y="181842"/>
                    <a:ext cx="5905500" cy="5689022"/>
                  </a:xfrm>
                  <a:prstGeom prst="roundRect">
                    <a:avLst/>
                  </a:prstGeom>
                  <a:solidFill>
                    <a:srgbClr val="EAEFF3"/>
                  </a:solidFill>
                  <a:ln w="1778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" name="TextBox 3"/>
                  <p:cNvSpPr txBox="1"/>
                  <p:nvPr/>
                </p:nvSpPr>
                <p:spPr>
                  <a:xfrm>
                    <a:off x="86589" y="176050"/>
                    <a:ext cx="5905500" cy="4921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Stage 1: </a:t>
                    </a:r>
                    <a:r>
                      <a:rPr lang="en-US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Home-Field Culture-Authority Collaboration</a:t>
                    </a:r>
                  </a:p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HF-CAC</a:t>
                    </a:r>
                  </a:p>
                </p:txBody>
              </p:sp>
              <p:sp>
                <p:nvSpPr>
                  <p:cNvPr id="6" name="Rounded Rectangle 5"/>
                  <p:cNvSpPr/>
                  <p:nvPr/>
                </p:nvSpPr>
                <p:spPr>
                  <a:xfrm>
                    <a:off x="216477" y="606136"/>
                    <a:ext cx="2649682" cy="3706090"/>
                  </a:xfrm>
                  <a:prstGeom prst="roundRect">
                    <a:avLst/>
                  </a:prstGeom>
                  <a:solidFill>
                    <a:srgbClr val="E2E9EF"/>
                  </a:solidFill>
                  <a:ln w="1270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16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7" name="Rounded Rectangle 6"/>
                  <p:cNvSpPr/>
                  <p:nvPr/>
                </p:nvSpPr>
                <p:spPr>
                  <a:xfrm>
                    <a:off x="3099955" y="606136"/>
                    <a:ext cx="2779568" cy="2658341"/>
                  </a:xfrm>
                  <a:prstGeom prst="roundRect">
                    <a:avLst/>
                  </a:prstGeom>
                  <a:solidFill>
                    <a:srgbClr val="EDE5DE"/>
                  </a:solidFill>
                  <a:ln w="1270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8" name="Rounded Rectangle 7"/>
                  <p:cNvSpPr/>
                  <p:nvPr/>
                </p:nvSpPr>
                <p:spPr>
                  <a:xfrm>
                    <a:off x="3099955" y="3542956"/>
                    <a:ext cx="2779568" cy="1894952"/>
                  </a:xfrm>
                  <a:prstGeom prst="roundRect">
                    <a:avLst/>
                  </a:prstGeom>
                  <a:solidFill>
                    <a:srgbClr val="E6E2EC"/>
                  </a:solidFill>
                  <a:ln w="1270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16477" y="802065"/>
                    <a:ext cx="2649680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Phase 1:</a:t>
                    </a:r>
                    <a:r>
                      <a:rPr lang="zh-CN" altLang="en-US" sz="1600" b="1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Initialization</a:t>
                    </a:r>
                  </a:p>
                </p:txBody>
              </p:sp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3099953" y="815694"/>
                    <a:ext cx="277956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Phase 2:</a:t>
                    </a:r>
                    <a:r>
                      <a:rPr lang="zh-CN" altLang="en-US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Cultural Debate</a:t>
                    </a:r>
                  </a:p>
                </p:txBody>
              </p:sp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3099953" y="3636676"/>
                    <a:ext cx="277956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Phase 3: Judge</a:t>
                    </a:r>
                  </a:p>
                </p:txBody>
              </p:sp>
              <p:grpSp>
                <p:nvGrpSpPr>
                  <p:cNvPr id="249" name="组合 248"/>
                  <p:cNvGrpSpPr/>
                  <p:nvPr/>
                </p:nvGrpSpPr>
                <p:grpSpPr>
                  <a:xfrm>
                    <a:off x="691787" y="4485408"/>
                    <a:ext cx="1310955" cy="710045"/>
                    <a:chOff x="406977" y="4485408"/>
                    <a:chExt cx="1310955" cy="710045"/>
                  </a:xfrm>
                </p:grpSpPr>
                <p:sp>
                  <p:nvSpPr>
                    <p:cNvPr id="12" name="Rounded Rectangle 11"/>
                    <p:cNvSpPr/>
                    <p:nvPr/>
                  </p:nvSpPr>
                  <p:spPr>
                    <a:xfrm>
                      <a:off x="406977" y="4485408"/>
                      <a:ext cx="1310955" cy="710045"/>
                    </a:xfrm>
                    <a:prstGeom prst="roundRect">
                      <a:avLst/>
                    </a:prstGeom>
                    <a:solidFill>
                      <a:srgbClr val="F0E9DB"/>
                    </a:solidFill>
                    <a:ln w="12700">
                      <a:solidFill>
                        <a:srgbClr val="B1A08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3" name="TextBox 12"/>
                    <p:cNvSpPr txBox="1"/>
                    <p:nvPr/>
                  </p:nvSpPr>
                  <p:spPr>
                    <a:xfrm>
                      <a:off x="493568" y="4531622"/>
                      <a:ext cx="88322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l"/>
                      <a:r>
                        <a:rPr sz="1200" b="1" i="0" dirty="0">
                          <a:solidFill>
                            <a:srgbClr val="78633E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Input</a:t>
                      </a:r>
                    </a:p>
                  </p:txBody>
                </p:sp>
                <p:sp>
                  <p:nvSpPr>
                    <p:cNvPr id="14" name="Rounded Rectangle 13"/>
                    <p:cNvSpPr/>
                    <p:nvPr/>
                  </p:nvSpPr>
                  <p:spPr>
                    <a:xfrm>
                      <a:off x="502227" y="4719204"/>
                      <a:ext cx="865909" cy="173182"/>
                    </a:xfrm>
                    <a:prstGeom prst="roundRect">
                      <a:avLst/>
                    </a:prstGeom>
                    <a:solidFill>
                      <a:srgbClr val="F8F6F1"/>
                    </a:solidFill>
                    <a:ln w="8890">
                      <a:solidFill>
                        <a:srgbClr val="B1A08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5" name="TextBox 14"/>
                    <p:cNvSpPr txBox="1"/>
                    <p:nvPr/>
                  </p:nvSpPr>
                  <p:spPr>
                    <a:xfrm>
                      <a:off x="571500" y="4716345"/>
                      <a:ext cx="727364" cy="1615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l"/>
                      <a:r>
                        <a:rPr sz="1050" b="0" i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Question  q</a:t>
                      </a:r>
                    </a:p>
                  </p:txBody>
                </p:sp>
                <p:sp>
                  <p:nvSpPr>
                    <p:cNvPr id="16" name="Rounded Rectangle 15"/>
                    <p:cNvSpPr/>
                    <p:nvPr/>
                  </p:nvSpPr>
                  <p:spPr>
                    <a:xfrm>
                      <a:off x="502227" y="4935681"/>
                      <a:ext cx="1133461" cy="173182"/>
                    </a:xfrm>
                    <a:prstGeom prst="roundRect">
                      <a:avLst/>
                    </a:prstGeom>
                    <a:solidFill>
                      <a:srgbClr val="F8F6F1"/>
                    </a:solidFill>
                    <a:ln w="8890">
                      <a:solidFill>
                        <a:srgbClr val="B1A08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7" name="TextBox 16"/>
                    <p:cNvSpPr txBox="1"/>
                    <p:nvPr/>
                  </p:nvSpPr>
                  <p:spPr>
                    <a:xfrm>
                      <a:off x="571500" y="4937151"/>
                      <a:ext cx="909206" cy="1615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l"/>
                      <a:r>
                        <a:rPr sz="105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Country = </a:t>
                      </a:r>
                      <a:r>
                        <a:rPr lang="en-US" altLang="zh-CN" sz="105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China</a:t>
                      </a:r>
                      <a:endParaRPr sz="105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cxnSp>
                <p:nvCxnSpPr>
                  <p:cNvPr id="21" name="Connector 20"/>
                  <p:cNvCxnSpPr>
                    <a:stCxn id="12" idx="1"/>
                    <a:endCxn id="220" idx="1"/>
                  </p:cNvCxnSpPr>
                  <p:nvPr/>
                </p:nvCxnSpPr>
                <p:spPr>
                  <a:xfrm rot="10800000" flipH="1">
                    <a:off x="691786" y="1172527"/>
                    <a:ext cx="622497" cy="3667905"/>
                  </a:xfrm>
                  <a:prstGeom prst="bentConnector3">
                    <a:avLst>
                      <a:gd name="adj1" fmla="val -60804"/>
                    </a:avLst>
                  </a:prstGeom>
                  <a:ln w="35560">
                    <a:solidFill>
                      <a:srgbClr val="7B8C9D"/>
                    </a:solidFill>
                    <a:headEnd type="non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" name="组合 205"/>
                  <p:cNvGrpSpPr/>
                  <p:nvPr/>
                </p:nvGrpSpPr>
                <p:grpSpPr>
                  <a:xfrm>
                    <a:off x="3732068" y="1176132"/>
                    <a:ext cx="987136" cy="658091"/>
                    <a:chOff x="3792682" y="1247633"/>
                    <a:chExt cx="987136" cy="658091"/>
                  </a:xfrm>
                </p:grpSpPr>
                <p:sp>
                  <p:nvSpPr>
                    <p:cNvPr id="53" name="Cloud Callout 52"/>
                    <p:cNvSpPr/>
                    <p:nvPr/>
                  </p:nvSpPr>
                  <p:spPr>
                    <a:xfrm>
                      <a:off x="3792682" y="1247633"/>
                      <a:ext cx="987136" cy="658091"/>
                    </a:xfrm>
                    <a:prstGeom prst="cloudCallout">
                      <a:avLst/>
                    </a:prstGeom>
                    <a:solidFill>
                      <a:srgbClr val="F8F6F1"/>
                    </a:solidFill>
                    <a:ln w="11430">
                      <a:solidFill>
                        <a:srgbClr val="76808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54" name="TextBox 53"/>
                    <p:cNvSpPr txBox="1"/>
                    <p:nvPr/>
                  </p:nvSpPr>
                  <p:spPr>
                    <a:xfrm>
                      <a:off x="3896591" y="1350313"/>
                      <a:ext cx="831273" cy="4339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sz="940" b="1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Authoritative</a:t>
                      </a:r>
                    </a:p>
                    <a:p>
                      <a:pPr algn="ctr"/>
                      <a:r>
                        <a:rPr sz="940" b="1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Cultural</a:t>
                      </a:r>
                    </a:p>
                    <a:p>
                      <a:pPr algn="ctr"/>
                      <a:r>
                        <a:rPr sz="940" b="1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Perspective</a:t>
                      </a:r>
                    </a:p>
                  </p:txBody>
                </p:sp>
              </p:grpSp>
              <p:sp>
                <p:nvSpPr>
                  <p:cNvPr id="79" name="Right Arrow 78"/>
                  <p:cNvSpPr/>
                  <p:nvPr/>
                </p:nvSpPr>
                <p:spPr>
                  <a:xfrm>
                    <a:off x="2883477" y="2060863"/>
                    <a:ext cx="329045" cy="259773"/>
                  </a:xfrm>
                  <a:prstGeom prst="rightArrow">
                    <a:avLst/>
                  </a:prstGeom>
                  <a:solidFill>
                    <a:srgbClr val="587E95"/>
                  </a:solidFill>
                  <a:ln w="8890">
                    <a:solidFill>
                      <a:srgbClr val="587E9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80" name="Down Arrow 79"/>
                  <p:cNvSpPr/>
                  <p:nvPr/>
                </p:nvSpPr>
                <p:spPr>
                  <a:xfrm>
                    <a:off x="4390159" y="3294457"/>
                    <a:ext cx="190500" cy="303068"/>
                  </a:xfrm>
                  <a:prstGeom prst="downArrow">
                    <a:avLst/>
                  </a:prstGeom>
                  <a:solidFill>
                    <a:srgbClr val="7992B5"/>
                  </a:solidFill>
                  <a:ln w="8890">
                    <a:solidFill>
                      <a:srgbClr val="7992B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pic>
                <p:nvPicPr>
                  <p:cNvPr id="82" name="Picture 81" descr="image.png"/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3905841" y="4322845"/>
                    <a:ext cx="398318" cy="398318"/>
                  </a:xfrm>
                  <a:prstGeom prst="rect">
                    <a:avLst/>
                  </a:prstGeom>
                </p:spPr>
              </p:pic>
              <p:cxnSp>
                <p:nvCxnSpPr>
                  <p:cNvPr id="84" name="Connector 83"/>
                  <p:cNvCxnSpPr>
                    <a:stCxn id="82" idx="3"/>
                    <a:endCxn id="97" idx="0"/>
                  </p:cNvCxnSpPr>
                  <p:nvPr/>
                </p:nvCxnSpPr>
                <p:spPr>
                  <a:xfrm>
                    <a:off x="4304159" y="4522004"/>
                    <a:ext cx="630626" cy="8661"/>
                  </a:xfrm>
                  <a:prstGeom prst="line">
                    <a:avLst/>
                  </a:prstGeom>
                  <a:ln w="22860">
                    <a:solidFill>
                      <a:srgbClr val="666666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4378029" y="3950783"/>
                    <a:ext cx="1558636" cy="1692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1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Cultural Affinity Matrix</a:t>
                    </a:r>
                  </a:p>
                </p:txBody>
              </p:sp>
              <p:grpSp>
                <p:nvGrpSpPr>
                  <p:cNvPr id="214" name="组合 213"/>
                  <p:cNvGrpSpPr/>
                  <p:nvPr/>
                </p:nvGrpSpPr>
                <p:grpSpPr>
                  <a:xfrm>
                    <a:off x="4861182" y="4236256"/>
                    <a:ext cx="736023" cy="588818"/>
                    <a:chOff x="4786232" y="4416136"/>
                    <a:chExt cx="736023" cy="588818"/>
                  </a:xfrm>
                </p:grpSpPr>
                <p:sp>
                  <p:nvSpPr>
                    <p:cNvPr id="87" name="Rectangle 86"/>
                    <p:cNvSpPr/>
                    <p:nvPr/>
                  </p:nvSpPr>
                  <p:spPr>
                    <a:xfrm>
                      <a:off x="4786232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D7E1E9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88" name="Rectangle 87"/>
                    <p:cNvSpPr/>
                    <p:nvPr/>
                  </p:nvSpPr>
                  <p:spPr>
                    <a:xfrm>
                      <a:off x="4933437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BECED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89" name="Rectangle 88"/>
                    <p:cNvSpPr/>
                    <p:nvPr/>
                  </p:nvSpPr>
                  <p:spPr>
                    <a:xfrm>
                      <a:off x="5080641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98B6C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0" name="Rectangle 89"/>
                    <p:cNvSpPr/>
                    <p:nvPr/>
                  </p:nvSpPr>
                  <p:spPr>
                    <a:xfrm>
                      <a:off x="5227846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BFCCA8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1" name="Rectangle 90"/>
                    <p:cNvSpPr/>
                    <p:nvPr/>
                  </p:nvSpPr>
                  <p:spPr>
                    <a:xfrm>
                      <a:off x="5375050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DFD6B6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2" name="Rectangle 91"/>
                    <p:cNvSpPr/>
                    <p:nvPr/>
                  </p:nvSpPr>
                  <p:spPr>
                    <a:xfrm>
                      <a:off x="4786232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DEE7DA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3" name="Rectangle 92"/>
                    <p:cNvSpPr/>
                    <p:nvPr/>
                  </p:nvSpPr>
                  <p:spPr>
                    <a:xfrm>
                      <a:off x="4933437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B6C9A6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4" name="Rectangle 93"/>
                    <p:cNvSpPr/>
                    <p:nvPr/>
                  </p:nvSpPr>
                  <p:spPr>
                    <a:xfrm>
                      <a:off x="5080641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91B27A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5" name="Rectangle 94"/>
                    <p:cNvSpPr/>
                    <p:nvPr/>
                  </p:nvSpPr>
                  <p:spPr>
                    <a:xfrm>
                      <a:off x="5227846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A79DC4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6" name="Rectangle 95"/>
                    <p:cNvSpPr/>
                    <p:nvPr/>
                  </p:nvSpPr>
                  <p:spPr>
                    <a:xfrm>
                      <a:off x="5375050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D2C0B9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7" name="Rectangle 96"/>
                    <p:cNvSpPr/>
                    <p:nvPr/>
                  </p:nvSpPr>
                  <p:spPr>
                    <a:xfrm>
                      <a:off x="4786232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D4DBE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8" name="Rectangle 97"/>
                    <p:cNvSpPr/>
                    <p:nvPr/>
                  </p:nvSpPr>
                  <p:spPr>
                    <a:xfrm>
                      <a:off x="4933437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ABBCD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9" name="Rectangle 98"/>
                    <p:cNvSpPr/>
                    <p:nvPr/>
                  </p:nvSpPr>
                  <p:spPr>
                    <a:xfrm>
                      <a:off x="5080641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6D92C1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0" name="Rectangle 99"/>
                    <p:cNvSpPr/>
                    <p:nvPr/>
                  </p:nvSpPr>
                  <p:spPr>
                    <a:xfrm>
                      <a:off x="5227846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9AAB89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1" name="Rectangle 100"/>
                    <p:cNvSpPr/>
                    <p:nvPr/>
                  </p:nvSpPr>
                  <p:spPr>
                    <a:xfrm>
                      <a:off x="5375050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BFCEA0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2" name="Rectangle 101"/>
                    <p:cNvSpPr/>
                    <p:nvPr/>
                  </p:nvSpPr>
                  <p:spPr>
                    <a:xfrm>
                      <a:off x="4786232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E7E0E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3" name="Rectangle 102"/>
                    <p:cNvSpPr/>
                    <p:nvPr/>
                  </p:nvSpPr>
                  <p:spPr>
                    <a:xfrm>
                      <a:off x="4933437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D1C7D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4" name="Rectangle 103"/>
                    <p:cNvSpPr/>
                    <p:nvPr/>
                  </p:nvSpPr>
                  <p:spPr>
                    <a:xfrm>
                      <a:off x="5080641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B2A8C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5" name="Rectangle 104"/>
                    <p:cNvSpPr/>
                    <p:nvPr/>
                  </p:nvSpPr>
                  <p:spPr>
                    <a:xfrm>
                      <a:off x="5227846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A0B396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6" name="Rectangle 105"/>
                    <p:cNvSpPr/>
                    <p:nvPr/>
                  </p:nvSpPr>
                  <p:spPr>
                    <a:xfrm>
                      <a:off x="5375050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7A926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4716166" y="5120419"/>
                    <a:ext cx="1132428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lang="en-US" altLang="zh-CN"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Judge</a:t>
                    </a:r>
                    <a:r>
                      <a:rPr lang="zh-CN" altLang="en-US" sz="120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answer</a:t>
                    </a:r>
                  </a:p>
                </p:txBody>
              </p:sp>
              <p:cxnSp>
                <p:nvCxnSpPr>
                  <p:cNvPr id="108" name="Connector 107"/>
                  <p:cNvCxnSpPr/>
                  <p:nvPr/>
                </p:nvCxnSpPr>
                <p:spPr>
                  <a:xfrm>
                    <a:off x="1472045" y="5195454"/>
                    <a:ext cx="0" cy="519545"/>
                  </a:xfrm>
                  <a:prstGeom prst="line">
                    <a:avLst/>
                  </a:prstGeom>
                  <a:ln w="30480">
                    <a:solidFill>
                      <a:srgbClr val="587E95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Connector 108"/>
                  <p:cNvCxnSpPr/>
                  <p:nvPr/>
                </p:nvCxnSpPr>
                <p:spPr>
                  <a:xfrm flipV="1">
                    <a:off x="1472045" y="5714999"/>
                    <a:ext cx="5106271" cy="4289"/>
                  </a:xfrm>
                  <a:prstGeom prst="line">
                    <a:avLst/>
                  </a:prstGeom>
                  <a:ln w="30480">
                    <a:solidFill>
                      <a:srgbClr val="587E95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76" name="图片 175"/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BEBA8EAE-BF5A-486C-A8C5-ECC9F3942E4B}">
                        <a14:imgProps xmlns:a14="http://schemas.microsoft.com/office/drawing/2010/main">
                          <a14:imgLayer r:embed="rId8">
                            <a14:imgEffect>
                              <a14:backgroundRemoval t="58808" b="83541" l="45978" r="56583"/>
                            </a14:imgEffect>
                          </a14:imgLayer>
                        </a14:imgProps>
                      </a:ext>
                    </a:extLst>
                  </a:blip>
                  <a:srcRect l="44652" t="55716" r="42091" b="13367"/>
                  <a:stretch>
                    <a:fillRect/>
                  </a:stretch>
                </p:blipFill>
                <p:spPr>
                  <a:xfrm>
                    <a:off x="3385445" y="3961860"/>
                    <a:ext cx="694428" cy="881164"/>
                  </a:xfrm>
                  <a:prstGeom prst="rect">
                    <a:avLst/>
                  </a:prstGeom>
                </p:spPr>
              </p:pic>
              <p:cxnSp>
                <p:nvCxnSpPr>
                  <p:cNvPr id="186" name="曲线连接符 185"/>
                  <p:cNvCxnSpPr>
                    <a:stCxn id="175" idx="1"/>
                    <a:endCxn id="173" idx="0"/>
                  </p:cNvCxnSpPr>
                  <p:nvPr/>
                </p:nvCxnSpPr>
                <p:spPr>
                  <a:xfrm rot="10800000" flipV="1">
                    <a:off x="688484" y="1590944"/>
                    <a:ext cx="529989" cy="222668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曲线连接符 186"/>
                  <p:cNvCxnSpPr>
                    <a:stCxn id="178" idx="1"/>
                    <a:endCxn id="174" idx="2"/>
                  </p:cNvCxnSpPr>
                  <p:nvPr/>
                </p:nvCxnSpPr>
                <p:spPr>
                  <a:xfrm rot="10800000">
                    <a:off x="700234" y="3545937"/>
                    <a:ext cx="527607" cy="206710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曲线连接符 187"/>
                  <p:cNvCxnSpPr>
                    <a:stCxn id="180" idx="0"/>
                    <a:endCxn id="181" idx="2"/>
                  </p:cNvCxnSpPr>
                  <p:nvPr/>
                </p:nvCxnSpPr>
                <p:spPr>
                  <a:xfrm rot="16200000" flipV="1">
                    <a:off x="2138466" y="2632827"/>
                    <a:ext cx="281404" cy="3656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曲线连接符 188"/>
                  <p:cNvCxnSpPr>
                    <a:stCxn id="181" idx="0"/>
                    <a:endCxn id="175" idx="3"/>
                  </p:cNvCxnSpPr>
                  <p:nvPr/>
                </p:nvCxnSpPr>
                <p:spPr>
                  <a:xfrm rot="16200000" flipV="1">
                    <a:off x="1947080" y="1414873"/>
                    <a:ext cx="154189" cy="506332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曲线连接符 195"/>
                  <p:cNvCxnSpPr>
                    <a:endCxn id="174" idx="0"/>
                  </p:cNvCxnSpPr>
                  <p:nvPr/>
                </p:nvCxnSpPr>
                <p:spPr>
                  <a:xfrm rot="5400000">
                    <a:off x="615699" y="2721924"/>
                    <a:ext cx="169071" cy="1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曲线连接符 196"/>
                  <p:cNvCxnSpPr>
                    <a:stCxn id="178" idx="3"/>
                    <a:endCxn id="180" idx="2"/>
                  </p:cNvCxnSpPr>
                  <p:nvPr/>
                </p:nvCxnSpPr>
                <p:spPr>
                  <a:xfrm flipV="1">
                    <a:off x="1813753" y="3515957"/>
                    <a:ext cx="467243" cy="236690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208" name="图片 207"/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BEBA8EAE-BF5A-486C-A8C5-ECC9F3942E4B}">
                        <a14:imgProps xmlns:a14="http://schemas.microsoft.com/office/drawing/2010/main">
                          <a14:imgLayer r:embed="rId8">
                            <a14:imgEffect>
                              <a14:backgroundRemoval t="11816" b="39497" l="7889" r="20199"/>
                            </a14:imgEffect>
                          </a14:imgLayer>
                        </a14:imgProps>
                      </a:ext>
                    </a:extLst>
                  </a:blip>
                  <a:srcRect l="6350" t="8356" r="78262" b="57043"/>
                  <a:stretch>
                    <a:fillRect/>
                  </a:stretch>
                </p:blipFill>
                <p:spPr>
                  <a:xfrm>
                    <a:off x="3166703" y="2105238"/>
                    <a:ext cx="563012" cy="688865"/>
                  </a:xfrm>
                  <a:prstGeom prst="rect">
                    <a:avLst/>
                  </a:prstGeom>
                </p:spPr>
              </p:pic>
              <p:pic>
                <p:nvPicPr>
                  <p:cNvPr id="209" name="图片 208"/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BEBA8EAE-BF5A-486C-A8C5-ECC9F3942E4B}">
                        <a14:imgProps xmlns:a14="http://schemas.microsoft.com/office/drawing/2010/main">
                          <a14:imgLayer r:embed="rId11">
                            <a14:imgEffect>
                              <a14:backgroundRemoval t="60513" b="83445" l="19218" r="28131">
                                <a14:foregroundMark x1="22359" y1="61835" x2="26773" y2="62633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rcRect l="18104" t="57647" r="70755" b="13689"/>
                  <a:stretch>
                    <a:fillRect/>
                  </a:stretch>
                </p:blipFill>
                <p:spPr>
                  <a:xfrm>
                    <a:off x="3898636" y="2539498"/>
                    <a:ext cx="528198" cy="739477"/>
                  </a:xfrm>
                  <a:prstGeom prst="rect">
                    <a:avLst/>
                  </a:prstGeom>
                </p:spPr>
              </p:pic>
              <p:pic>
                <p:nvPicPr>
                  <p:cNvPr id="211" name="图片 210"/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BEBA8EAE-BF5A-486C-A8C5-ECC9F3942E4B}">
                        <a14:imgProps xmlns:a14="http://schemas.microsoft.com/office/drawing/2010/main">
                          <a14:imgLayer r:embed="rId13">
                            <a14:imgEffect>
                              <a14:backgroundRemoval t="15285" b="39434" l="59270" r="69252"/>
                            </a14:imgEffect>
                          </a14:imgLayer>
                        </a14:imgProps>
                      </a:ext>
                    </a:extLst>
                  </a:blip>
                  <a:srcRect l="58022" t="12267" r="29500" b="57547"/>
                  <a:stretch>
                    <a:fillRect/>
                  </a:stretch>
                </p:blipFill>
                <p:spPr>
                  <a:xfrm>
                    <a:off x="4645930" y="2533190"/>
                    <a:ext cx="562840" cy="740902"/>
                  </a:xfrm>
                  <a:prstGeom prst="rect">
                    <a:avLst/>
                  </a:prstGeom>
                </p:spPr>
              </p:pic>
              <p:pic>
                <p:nvPicPr>
                  <p:cNvPr id="212" name="图片 211"/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BEBA8EAE-BF5A-486C-A8C5-ECC9F3942E4B}">
                        <a14:imgProps xmlns:a14="http://schemas.microsoft.com/office/drawing/2010/main">
                          <a14:imgLayer r:embed="rId15">
                            <a14:imgEffect>
                              <a14:backgroundRemoval t="16417" b="40173" l="89055" r="98158"/>
                            </a14:imgEffect>
                          </a14:imgLayer>
                        </a14:imgProps>
                      </a:ext>
                    </a:extLst>
                  </a:blip>
                  <a:srcRect l="87917" t="13447" r="704" b="56857"/>
                  <a:stretch>
                    <a:fillRect/>
                  </a:stretch>
                </p:blipFill>
                <p:spPr>
                  <a:xfrm>
                    <a:off x="5247215" y="2028408"/>
                    <a:ext cx="521548" cy="740600"/>
                  </a:xfrm>
                  <a:prstGeom prst="rect">
                    <a:avLst/>
                  </a:prstGeom>
                </p:spPr>
              </p:pic>
              <p:pic>
                <p:nvPicPr>
                  <p:cNvPr id="213" name="图片 212"/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BEBA8EAE-BF5A-486C-A8C5-ECC9F3942E4B}">
                        <a14:imgProps xmlns:a14="http://schemas.microsoft.com/office/drawing/2010/main">
                          <a14:imgLayer r:embed="rId17">
                            <a14:imgEffect>
                              <a14:backgroundRemoval t="16909" b="40658" l="46413" r="56395"/>
                            </a14:imgEffect>
                          </a14:imgLayer>
                        </a14:imgProps>
                      </a:ext>
                    </a:extLst>
                  </a:blip>
                  <a:srcRect l="45165" t="13940" r="42357" b="56373"/>
                  <a:stretch>
                    <a:fillRect/>
                  </a:stretch>
                </p:blipFill>
                <p:spPr>
                  <a:xfrm>
                    <a:off x="5286246" y="1132558"/>
                    <a:ext cx="578399" cy="748820"/>
                  </a:xfrm>
                  <a:prstGeom prst="rect">
                    <a:avLst/>
                  </a:prstGeom>
                </p:spPr>
              </p:pic>
              <p:grpSp>
                <p:nvGrpSpPr>
                  <p:cNvPr id="227" name="组合 226"/>
                  <p:cNvGrpSpPr/>
                  <p:nvPr/>
                </p:nvGrpSpPr>
                <p:grpSpPr>
                  <a:xfrm>
                    <a:off x="3151796" y="1048275"/>
                    <a:ext cx="649971" cy="972719"/>
                    <a:chOff x="3301696" y="1168195"/>
                    <a:chExt cx="649971" cy="972719"/>
                  </a:xfrm>
                </p:grpSpPr>
                <p:pic>
                  <p:nvPicPr>
                    <p:cNvPr id="210" name="图片 209"/>
                    <p:cNvPicPr>
                      <a:picLocks noChangeAspect="1"/>
                    </p:cNvPicPr>
                    <p:nvPr/>
                  </p:nvPicPr>
                  <p:blipFill>
                    <a:blip r:embed="rId18">
                      <a:extLst>
                        <a:ext uri="{BEBA8EAE-BF5A-486C-A8C5-ECC9F3942E4B}">
                          <a14:imgProps xmlns:a14="http://schemas.microsoft.com/office/drawing/2010/main">
                            <a14:imgLayer r:embed="rId19">
                              <a14:imgEffect>
                                <a14:backgroundRemoval t="15908" b="40930" l="45591" r="56197"/>
                              </a14:imgEffect>
                            </a14:imgLayer>
                          </a14:imgProps>
                        </a:ext>
                      </a:extLst>
                    </a:blip>
                    <a:srcRect l="44265" t="12780" r="42477" b="55942"/>
                    <a:stretch>
                      <a:fillRect/>
                    </a:stretch>
                  </p:blipFill>
                  <p:spPr>
                    <a:xfrm>
                      <a:off x="3301696" y="1431612"/>
                      <a:ext cx="552536" cy="70930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1" name="图片 220"/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91206">
                      <a:off x="3398929" y="1168195"/>
                      <a:ext cx="552738" cy="552738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22" name="曲线连接符 221"/>
                  <p:cNvCxnSpPr>
                    <a:stCxn id="210" idx="2"/>
                    <a:endCxn id="208" idx="0"/>
                  </p:cNvCxnSpPr>
                  <p:nvPr/>
                </p:nvCxnSpPr>
                <p:spPr>
                  <a:xfrm rot="16200000" flipH="1">
                    <a:off x="3396014" y="2053043"/>
                    <a:ext cx="84244" cy="20145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曲线连接符 228"/>
                  <p:cNvCxnSpPr>
                    <a:stCxn id="208" idx="2"/>
                    <a:endCxn id="209" idx="1"/>
                  </p:cNvCxnSpPr>
                  <p:nvPr/>
                </p:nvCxnSpPr>
                <p:spPr>
                  <a:xfrm rot="16200000" flipH="1">
                    <a:off x="3615855" y="2626456"/>
                    <a:ext cx="115134" cy="450427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曲线连接符 231"/>
                  <p:cNvCxnSpPr>
                    <a:endCxn id="213" idx="2"/>
                  </p:cNvCxnSpPr>
                  <p:nvPr/>
                </p:nvCxnSpPr>
                <p:spPr>
                  <a:xfrm rot="5400000" flipH="1" flipV="1">
                    <a:off x="5471081" y="1985743"/>
                    <a:ext cx="208730" cy="12700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5" name="曲线连接符 234"/>
                  <p:cNvCxnSpPr>
                    <a:stCxn id="211" idx="1"/>
                    <a:endCxn id="209" idx="3"/>
                  </p:cNvCxnSpPr>
                  <p:nvPr/>
                </p:nvCxnSpPr>
                <p:spPr>
                  <a:xfrm rot="10800000" flipV="1">
                    <a:off x="4426834" y="2903641"/>
                    <a:ext cx="219096" cy="5596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曲线连接符 235"/>
                  <p:cNvCxnSpPr>
                    <a:stCxn id="212" idx="2"/>
                    <a:endCxn id="211" idx="3"/>
                  </p:cNvCxnSpPr>
                  <p:nvPr/>
                </p:nvCxnSpPr>
                <p:spPr>
                  <a:xfrm rot="5400000">
                    <a:off x="5291064" y="2686715"/>
                    <a:ext cx="134633" cy="299219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1" name="组合 40"/>
                  <p:cNvGrpSpPr/>
                  <p:nvPr/>
                </p:nvGrpSpPr>
                <p:grpSpPr>
                  <a:xfrm>
                    <a:off x="1021687" y="982416"/>
                    <a:ext cx="952756" cy="1107595"/>
                    <a:chOff x="1021687" y="1087346"/>
                    <a:chExt cx="952756" cy="1107595"/>
                  </a:xfrm>
                </p:grpSpPr>
                <p:pic>
                  <p:nvPicPr>
                    <p:cNvPr id="175" name="图片 174"/>
                    <p:cNvPicPr>
                      <a:picLocks noChangeAspect="1"/>
                    </p:cNvPicPr>
                    <p:nvPr/>
                  </p:nvPicPr>
                  <p:blipFill>
                    <a:blip r:embed="rId18">
                      <a:extLst>
                        <a:ext uri="{BEBA8EAE-BF5A-486C-A8C5-ECC9F3942E4B}">
                          <a14:imgProps xmlns:a14="http://schemas.microsoft.com/office/drawing/2010/main">
                            <a14:imgLayer r:embed="rId21">
                              <a14:imgEffect>
                                <a14:backgroundRemoval t="15908" b="40930" l="45591" r="56197"/>
                              </a14:imgEffect>
                            </a14:imgLayer>
                          </a14:imgProps>
                        </a:ext>
                      </a:extLst>
                    </a:blip>
                    <a:srcRect l="44265" t="12780" r="42477" b="55942"/>
                    <a:stretch>
                      <a:fillRect/>
                    </a:stretch>
                  </p:blipFill>
                  <p:spPr>
                    <a:xfrm>
                      <a:off x="1218472" y="1341223"/>
                      <a:ext cx="552536" cy="70930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0" name="图片 219"/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91206">
                      <a:off x="1300478" y="1087346"/>
                      <a:ext cx="552738" cy="55273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2" name="TextBox 106"/>
                    <p:cNvSpPr txBox="1"/>
                    <p:nvPr/>
                  </p:nvSpPr>
                  <p:spPr>
                    <a:xfrm>
                      <a:off x="1021687" y="2010275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70C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Guardian</a:t>
                      </a:r>
                      <a:endParaRPr sz="1200" b="1" i="0" dirty="0">
                        <a:solidFill>
                          <a:srgbClr val="0070C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38" name="组合 37"/>
                  <p:cNvGrpSpPr/>
                  <p:nvPr/>
                </p:nvGrpSpPr>
                <p:grpSpPr>
                  <a:xfrm>
                    <a:off x="1040637" y="3367010"/>
                    <a:ext cx="952756" cy="914888"/>
                    <a:chOff x="1040637" y="3097190"/>
                    <a:chExt cx="952756" cy="914888"/>
                  </a:xfrm>
                </p:grpSpPr>
                <p:pic>
                  <p:nvPicPr>
                    <p:cNvPr id="178" name="图片 177"/>
                    <p:cNvPicPr>
                      <a:picLocks noChangeAspect="1"/>
                    </p:cNvPicPr>
                    <p:nvPr/>
                  </p:nvPicPr>
                  <p:blipFill>
                    <a:blip r:embed="rId12">
                      <a:extLst>
                        <a:ext uri="{BEBA8EAE-BF5A-486C-A8C5-ECC9F3942E4B}">
                          <a14:imgProps xmlns:a14="http://schemas.microsoft.com/office/drawing/2010/main">
                            <a14:imgLayer r:embed="rId22">
                              <a14:imgEffect>
                                <a14:backgroundRemoval t="15285" b="39434" l="59270" r="69252"/>
                              </a14:imgEffect>
                            </a14:imgLayer>
                          </a14:imgProps>
                        </a:ext>
                      </a:extLst>
                    </a:blip>
                    <a:srcRect l="58022" t="12267" r="29500" b="57547"/>
                    <a:stretch>
                      <a:fillRect/>
                    </a:stretch>
                  </p:blipFill>
                  <p:spPr>
                    <a:xfrm>
                      <a:off x="1227840" y="3097190"/>
                      <a:ext cx="585913" cy="77127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3" name="TextBox 106"/>
                    <p:cNvSpPr txBox="1"/>
                    <p:nvPr/>
                  </p:nvSpPr>
                  <p:spPr>
                    <a:xfrm>
                      <a:off x="1040637" y="3827412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40" name="组合 39"/>
                  <p:cNvGrpSpPr/>
                  <p:nvPr/>
                </p:nvGrpSpPr>
                <p:grpSpPr>
                  <a:xfrm>
                    <a:off x="1778158" y="2775357"/>
                    <a:ext cx="952756" cy="848419"/>
                    <a:chOff x="1778158" y="2670427"/>
                    <a:chExt cx="952756" cy="848419"/>
                  </a:xfrm>
                </p:grpSpPr>
                <p:pic>
                  <p:nvPicPr>
                    <p:cNvPr id="180" name="图片 179"/>
                    <p:cNvPicPr>
                      <a:picLocks noChangeAspect="1"/>
                    </p:cNvPicPr>
                    <p:nvPr/>
                  </p:nvPicPr>
                  <p:blipFill>
                    <a:blip r:embed="rId14">
                      <a:extLst>
                        <a:ext uri="{BEBA8EAE-BF5A-486C-A8C5-ECC9F3942E4B}">
                          <a14:imgProps xmlns:a14="http://schemas.microsoft.com/office/drawing/2010/main">
                            <a14:imgLayer r:embed="rId23">
                              <a14:imgEffect>
                                <a14:backgroundRemoval t="16417" b="40173" l="89055" r="98158"/>
                              </a14:imgEffect>
                            </a14:imgLayer>
                          </a14:imgProps>
                        </a:ext>
                      </a:extLst>
                    </a:blip>
                    <a:srcRect l="87917" t="13447" r="704" b="56857"/>
                    <a:stretch>
                      <a:fillRect/>
                    </a:stretch>
                  </p:blipFill>
                  <p:spPr>
                    <a:xfrm>
                      <a:off x="2020222" y="2670427"/>
                      <a:ext cx="521548" cy="7406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" name="TextBox 106"/>
                    <p:cNvSpPr txBox="1"/>
                    <p:nvPr/>
                  </p:nvSpPr>
                  <p:spPr>
                    <a:xfrm>
                      <a:off x="1778158" y="3334180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39" name="组合 38"/>
                  <p:cNvGrpSpPr/>
                  <p:nvPr/>
                </p:nvGrpSpPr>
                <p:grpSpPr>
                  <a:xfrm>
                    <a:off x="235723" y="2806460"/>
                    <a:ext cx="952756" cy="863980"/>
                    <a:chOff x="235723" y="2671550"/>
                    <a:chExt cx="952756" cy="863980"/>
                  </a:xfrm>
                </p:grpSpPr>
                <p:pic>
                  <p:nvPicPr>
                    <p:cNvPr id="174" name="图片 173"/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BEBA8EAE-BF5A-486C-A8C5-ECC9F3942E4B}">
                          <a14:imgProps xmlns:a14="http://schemas.microsoft.com/office/drawing/2010/main">
                            <a14:imgLayer r:embed="rId24">
                              <a14:imgEffect>
                                <a14:backgroundRemoval t="60513" b="83445" l="19218" r="28131">
                                  <a14:foregroundMark x1="22359" y1="61835" x2="26773" y2="62633"/>
                                </a14:backgroundRemoval>
                              </a14:imgEffect>
                            </a14:imgLayer>
                          </a14:imgProps>
                        </a:ext>
                      </a:extLst>
                    </a:blip>
                    <a:srcRect l="18104" t="57647" r="70755" b="13689"/>
                    <a:stretch>
                      <a:fillRect/>
                    </a:stretch>
                  </p:blipFill>
                  <p:spPr>
                    <a:xfrm>
                      <a:off x="436134" y="2671550"/>
                      <a:ext cx="528198" cy="73947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5" name="TextBox 106"/>
                    <p:cNvSpPr txBox="1"/>
                    <p:nvPr/>
                  </p:nvSpPr>
                  <p:spPr>
                    <a:xfrm>
                      <a:off x="235723" y="3350864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44" name="组合 43"/>
                  <p:cNvGrpSpPr/>
                  <p:nvPr/>
                </p:nvGrpSpPr>
                <p:grpSpPr>
                  <a:xfrm>
                    <a:off x="216936" y="1813612"/>
                    <a:ext cx="952756" cy="823333"/>
                    <a:chOff x="216936" y="1813612"/>
                    <a:chExt cx="952756" cy="823333"/>
                  </a:xfrm>
                </p:grpSpPr>
                <p:pic>
                  <p:nvPicPr>
                    <p:cNvPr id="173" name="图片 172"/>
                    <p:cNvPicPr>
                      <a:picLocks noChangeAspect="1"/>
                    </p:cNvPicPr>
                    <p:nvPr/>
                  </p:nvPicPr>
                  <p:blipFill>
                    <a:blip r:embed="rId9">
                      <a:extLst>
                        <a:ext uri="{BEBA8EAE-BF5A-486C-A8C5-ECC9F3942E4B}">
                          <a14:imgProps xmlns:a14="http://schemas.microsoft.com/office/drawing/2010/main">
                            <a14:imgLayer r:embed="rId25">
                              <a14:imgEffect>
                                <a14:backgroundRemoval t="11816" b="39497" l="7889" r="20199"/>
                              </a14:imgEffect>
                            </a14:imgLayer>
                          </a14:imgProps>
                        </a:ext>
                      </a:extLst>
                    </a:blip>
                    <a:srcRect l="6350" t="8356" r="78262" b="57043"/>
                    <a:stretch>
                      <a:fillRect/>
                    </a:stretch>
                  </p:blipFill>
                  <p:spPr>
                    <a:xfrm>
                      <a:off x="406977" y="1813612"/>
                      <a:ext cx="563012" cy="68886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6" name="TextBox 106"/>
                    <p:cNvSpPr txBox="1"/>
                    <p:nvPr/>
                  </p:nvSpPr>
                  <p:spPr>
                    <a:xfrm>
                      <a:off x="216936" y="2452279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45" name="组合 44"/>
                  <p:cNvGrpSpPr/>
                  <p:nvPr/>
                </p:nvGrpSpPr>
                <p:grpSpPr>
                  <a:xfrm>
                    <a:off x="1792519" y="1745133"/>
                    <a:ext cx="952756" cy="874073"/>
                    <a:chOff x="1792519" y="1745133"/>
                    <a:chExt cx="952756" cy="874073"/>
                  </a:xfrm>
                </p:grpSpPr>
                <p:pic>
                  <p:nvPicPr>
                    <p:cNvPr id="181" name="图片 180"/>
                    <p:cNvPicPr>
                      <a:picLocks noChangeAspect="1"/>
                    </p:cNvPicPr>
                    <p:nvPr/>
                  </p:nvPicPr>
                  <p:blipFill>
                    <a:blip r:embed="rId16">
                      <a:extLst>
                        <a:ext uri="{BEBA8EAE-BF5A-486C-A8C5-ECC9F3942E4B}">
                          <a14:imgProps xmlns:a14="http://schemas.microsoft.com/office/drawing/2010/main">
                            <a14:imgLayer r:embed="rId26">
                              <a14:imgEffect>
                                <a14:backgroundRemoval t="16909" b="40658" l="46413" r="56395"/>
                              </a14:imgEffect>
                            </a14:imgLayer>
                          </a14:imgProps>
                        </a:ext>
                      </a:extLst>
                    </a:blip>
                    <a:srcRect l="45165" t="13940" r="42357" b="56373"/>
                    <a:stretch>
                      <a:fillRect/>
                    </a:stretch>
                  </p:blipFill>
                  <p:spPr>
                    <a:xfrm>
                      <a:off x="1988140" y="1745133"/>
                      <a:ext cx="578399" cy="74882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7" name="TextBox 106"/>
                    <p:cNvSpPr txBox="1"/>
                    <p:nvPr/>
                  </p:nvSpPr>
                  <p:spPr>
                    <a:xfrm>
                      <a:off x="1792519" y="2434540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sp>
                <p:nvSpPr>
                  <p:cNvPr id="51" name="Down Arrow 79"/>
                  <p:cNvSpPr/>
                  <p:nvPr/>
                </p:nvSpPr>
                <p:spPr>
                  <a:xfrm rot="16200000">
                    <a:off x="5985068" y="2979804"/>
                    <a:ext cx="373645" cy="464366"/>
                  </a:xfrm>
                  <a:prstGeom prst="downArrow">
                    <a:avLst/>
                  </a:prstGeom>
                  <a:solidFill>
                    <a:srgbClr val="7992B5"/>
                  </a:solidFill>
                  <a:ln w="8890">
                    <a:solidFill>
                      <a:srgbClr val="7992B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2" name="Cloud Callout 52"/>
                  <p:cNvSpPr/>
                  <p:nvPr/>
                </p:nvSpPr>
                <p:spPr>
                  <a:xfrm rot="1843145">
                    <a:off x="3604942" y="2021264"/>
                    <a:ext cx="469759" cy="375866"/>
                  </a:xfrm>
                  <a:prstGeom prst="cloudCallout">
                    <a:avLst/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5" name="Cloud Callout 52"/>
                  <p:cNvSpPr/>
                  <p:nvPr/>
                </p:nvSpPr>
                <p:spPr>
                  <a:xfrm rot="1843145">
                    <a:off x="4818225" y="1123479"/>
                    <a:ext cx="469759" cy="375866"/>
                  </a:xfrm>
                  <a:prstGeom prst="cloudCallout">
                    <a:avLst>
                      <a:gd name="adj1" fmla="val 73393"/>
                      <a:gd name="adj2" fmla="val 34276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6" name="Cloud Callout 52"/>
                  <p:cNvSpPr/>
                  <p:nvPr/>
                </p:nvSpPr>
                <p:spPr>
                  <a:xfrm rot="1843145">
                    <a:off x="4863929" y="1769821"/>
                    <a:ext cx="469759" cy="375866"/>
                  </a:xfrm>
                  <a:prstGeom prst="cloudCallout">
                    <a:avLst>
                      <a:gd name="adj1" fmla="val 68662"/>
                      <a:gd name="adj2" fmla="val -22519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7" name="Cloud Callout 52"/>
                  <p:cNvSpPr/>
                  <p:nvPr/>
                </p:nvSpPr>
                <p:spPr>
                  <a:xfrm rot="1843145">
                    <a:off x="4353806" y="1858478"/>
                    <a:ext cx="469759" cy="375866"/>
                  </a:xfrm>
                  <a:prstGeom prst="cloudCallout">
                    <a:avLst>
                      <a:gd name="adj1" fmla="val 94067"/>
                      <a:gd name="adj2" fmla="val 69953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8" name="Cloud Callout 52"/>
                  <p:cNvSpPr/>
                  <p:nvPr/>
                </p:nvSpPr>
                <p:spPr>
                  <a:xfrm rot="1843145">
                    <a:off x="4115220" y="2219575"/>
                    <a:ext cx="469759" cy="375866"/>
                  </a:xfrm>
                  <a:prstGeom prst="cloudCallout">
                    <a:avLst>
                      <a:gd name="adj1" fmla="val -32919"/>
                      <a:gd name="adj2" fmla="val 76115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9" name="TextBox 106"/>
                  <p:cNvSpPr txBox="1"/>
                  <p:nvPr/>
                </p:nvSpPr>
                <p:spPr>
                  <a:xfrm>
                    <a:off x="3343152" y="4803176"/>
                    <a:ext cx="773125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lang="en-US" altLang="zh-CN"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Judge</a:t>
                    </a:r>
                    <a:endParaRPr sz="1200" b="1" i="0" dirty="0">
                      <a:solidFill>
                        <a:srgbClr val="002060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cxnSp>
                <p:nvCxnSpPr>
                  <p:cNvPr id="67" name="肘形连接符 66"/>
                  <p:cNvCxnSpPr>
                    <a:stCxn id="82" idx="2"/>
                    <a:endCxn id="107" idx="1"/>
                  </p:cNvCxnSpPr>
                  <p:nvPr/>
                </p:nvCxnSpPr>
                <p:spPr>
                  <a:xfrm rot="16200000" flipH="1">
                    <a:off x="4164789" y="4661374"/>
                    <a:ext cx="491589" cy="611166"/>
                  </a:xfrm>
                  <a:prstGeom prst="bentConnector2">
                    <a:avLst/>
                  </a:prstGeom>
                  <a:ln w="33020">
                    <a:solidFill>
                      <a:srgbClr val="587E95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73" name="肘形连接符 72"/>
              <p:cNvCxnSpPr>
                <a:stCxn id="251" idx="1"/>
                <a:endCxn id="120" idx="0"/>
              </p:cNvCxnSpPr>
              <p:nvPr/>
            </p:nvCxnSpPr>
            <p:spPr>
              <a:xfrm rot="10800000" flipV="1">
                <a:off x="7294581" y="1230886"/>
                <a:ext cx="1378671" cy="1083322"/>
              </a:xfrm>
              <a:prstGeom prst="bentConnector2">
                <a:avLst/>
              </a:prstGeom>
              <a:ln w="3302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五角星 18"/>
            <p:cNvSpPr/>
            <p:nvPr/>
          </p:nvSpPr>
          <p:spPr>
            <a:xfrm>
              <a:off x="2841" y="7989"/>
              <a:ext cx="397" cy="397"/>
            </a:xfrm>
            <a:prstGeom prst="star5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001" name="AnnotGuardianHighlight"/>
          <p:cNvSpPr/>
          <p:nvPr/>
        </p:nvSpPr>
        <p:spPr>
          <a:xfrm>
            <a:off x="1995214" y="5134565"/>
            <a:ext cx="822960" cy="292608"/>
          </a:xfrm>
          <a:prstGeom prst="roundRect">
            <a:avLst>
              <a:gd name="adj" fmla="val 16667"/>
            </a:avLst>
          </a:prstGeom>
          <a:solidFill>
            <a:srgbClr val="FFF3E0">
              <a:alpha val="85000"/>
            </a:srgbClr>
          </a:solidFill>
          <a:ln w="28575">
            <a:solidFill>
              <a:srgbClr val="E65100"/>
            </a:solidFill>
          </a:ln>
        </p:spPr>
        <p:txBody>
          <a:bodyPr wrap="square" lIns="45720" tIns="27432" rIns="45720" bIns="27432" anchor="ctr"/>
          <a:lstStyle/>
          <a:p>
            <a:pPr algn="ctr"/>
            <a:r>
              <a:rPr lang="zh-CN" altLang="en-US" sz="900" b="1" dirty="0">
                <a:solidFill>
                  <a:srgbClr val="BF360C"/>
                </a:solidFill>
                <a:latin typeface="Microsoft YaHei"/>
                <a:ea typeface="Microsoft YaHei"/>
              </a:rPr>
              <a:t>⭐ 主场权威</a:t>
            </a:r>
          </a:p>
          <a:p>
            <a:pPr algn="ctr"/>
            <a:r>
              <a:rPr lang="en-US" sz="700" b="1" dirty="0">
                <a:solidFill>
                  <a:srgbClr val="E65100"/>
                </a:solidFill>
                <a:latin typeface="Arial"/>
              </a:rPr>
              <a:t>Home-Field Authority</a:t>
            </a:r>
          </a:p>
        </p:txBody>
      </p:sp>
      <p:sp>
        <p:nvSpPr>
          <p:cNvPr id="9002" name="AnnotVetoLabel"/>
          <p:cNvSpPr/>
          <p:nvPr/>
        </p:nvSpPr>
        <p:spPr>
          <a:xfrm>
            <a:off x="1005840" y="2267712"/>
            <a:ext cx="960120" cy="201168"/>
          </a:xfrm>
          <a:prstGeom prst="roundRect">
            <a:avLst>
              <a:gd name="adj" fmla="val 16667"/>
            </a:avLst>
          </a:prstGeom>
          <a:solidFill>
            <a:srgbClr val="C8E6C9">
              <a:alpha val="90000"/>
            </a:srgbClr>
          </a:solidFill>
          <a:ln w="19050">
            <a:solidFill>
              <a:srgbClr val="2E7D32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800" b="1" dirty="0">
                <a:solidFill>
                  <a:srgbClr val="1B5E20"/>
                </a:solidFill>
                <a:latin typeface="Arial"/>
              </a:rPr>
              <a:t>Authority Override</a:t>
            </a:r>
          </a:p>
        </p:txBody>
      </p:sp>
      <p:cxnSp>
        <p:nvCxnSpPr>
          <p:cNvPr id="9003" name="AnnotArrowToVeto"/>
          <p:cNvCxnSpPr/>
          <p:nvPr/>
        </p:nvCxnSpPr>
        <p:spPr>
          <a:xfrm>
            <a:off x="1508760" y="2468880"/>
            <a:ext cx="1691640" cy="1645920"/>
          </a:xfrm>
          <a:prstGeom prst="straightConnector1">
            <a:avLst/>
          </a:prstGeom>
          <a:ln w="19050">
            <a:solidFill>
              <a:srgbClr val="E65100"/>
            </a:solidFill>
            <a:prstDash val="dash"/>
            <a:tailEnd type="triangle" w="med" len="med"/>
          </a:ln>
        </p:spPr>
      </p:cxnSp>
      <p:sp>
        <p:nvSpPr>
          <p:cNvPr id="9004" name="AnnotEfficiencyCallout"/>
          <p:cNvSpPr/>
          <p:nvPr/>
        </p:nvSpPr>
        <p:spPr>
          <a:xfrm>
            <a:off x="8046720" y="5989320"/>
            <a:ext cx="2926080" cy="685800"/>
          </a:xfrm>
          <a:prstGeom prst="wedgeRoundRectCallout">
            <a:avLst>
              <a:gd name="adj1" fmla="val -35000"/>
              <a:gd name="adj2" fmla="val -65000"/>
              <a:gd name="adj3" fmla="val 16667"/>
            </a:avLst>
          </a:prstGeom>
          <a:solidFill>
            <a:srgbClr val="E3F2FD">
              <a:alpha val="92000"/>
            </a:srgbClr>
          </a:solidFill>
          <a:ln w="22225">
            <a:solidFill>
              <a:srgbClr val="1565C0"/>
            </a:solidFill>
          </a:ln>
        </p:spPr>
        <p:txBody>
          <a:bodyPr wrap="square" lIns="54864" tIns="27432" rIns="54864" bIns="27432" anchor="ctr"/>
          <a:lstStyle/>
          <a:p>
            <a:pPr algn="ctr"/>
            <a:r>
              <a:rPr lang="en-US" sz="1100" b="1" dirty="0">
                <a:solidFill>
                  <a:srgbClr val="0D47A1"/>
                </a:solidFill>
                <a:latin typeface="Arial"/>
              </a:rPr>
              <a:t>≈10× Efficiency ↑</a:t>
            </a:r>
          </a:p>
          <a:p>
            <a:pPr algn="ctr"/>
            <a:r>
              <a:rPr lang="zh-CN" altLang="en-US" sz="800" dirty="0">
                <a:solidFill>
                  <a:srgbClr val="1565C0"/>
                </a:solidFill>
                <a:latin typeface="Microsoft YaHei"/>
                <a:ea typeface="Microsoft YaHei"/>
              </a:rPr>
              <a:t>单模型推理 vs 多智能体</a:t>
            </a:r>
          </a:p>
          <a:p>
            <a:pPr algn="ctr"/>
            <a:r>
              <a:rPr lang="en-US" sz="700" dirty="0">
                <a:solidFill>
                  <a:srgbClr val="1565C0"/>
                </a:solidFill>
                <a:latin typeface="Arial"/>
              </a:rPr>
              <a:t>Single-model inference ≈ Base cost</a:t>
            </a:r>
          </a:p>
        </p:txBody>
      </p:sp>
      <p:sp>
        <p:nvSpPr>
          <p:cNvPr id="9005" name="AnnotDistillArrow"/>
          <p:cNvSpPr/>
          <p:nvPr/>
        </p:nvSpPr>
        <p:spPr>
          <a:xfrm>
            <a:off x="5943600" y="2743200"/>
            <a:ext cx="502920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5C0">
              <a:alpha val="40000"/>
            </a:srgbClr>
          </a:solidFill>
          <a:ln w="12700">
            <a:solidFill>
              <a:srgbClr val="1565C0"/>
            </a:solidFill>
          </a:ln>
        </p:spPr>
        <p:txBody>
          <a:bodyPr wrap="square" lIns="27432" tIns="18288" rIns="27432" bIns="18288" anchor="ctr"/>
          <a:lstStyle/>
          <a:p>
            <a:pPr algn="ctr"/>
            <a:r>
              <a:rPr lang="en-US" sz="700" b="1" dirty="0">
                <a:solidFill>
                  <a:srgbClr val="FFFFFF"/>
                </a:solidFill>
                <a:latin typeface="Arial"/>
              </a:rPr>
              <a:t>Distill</a:t>
            </a:r>
          </a:p>
        </p:txBody>
      </p:sp>
      <p:grpSp>
        <p:nvGrpSpPr>
          <p:cNvPr id="9100" name="InvertedCone3D"/>
          <p:cNvGrpSpPr/>
          <p:nvPr/>
        </p:nvGrpSpPr>
        <p:grpSpPr>
          <a:xfrm>
            <a:off x="523628" y="1528003"/>
            <a:ext cx="2600000" cy="3200000"/>
            <a:chOff x="0" y="0"/>
            <a:chExt cx="2600000" cy="3200000"/>
          </a:xfrm>
        </p:grpSpPr>
        <p:sp>
          <p:nvSpPr>
            <p:cNvPr id="9101" name="ConeBody"/>
            <p:cNvSpPr/>
            <p:nvPr/>
          </p:nvSpPr>
          <p:spPr>
            <a:xfrm>
              <a:off x="0" y="0"/>
              <a:ext cx="2600000" cy="3200000"/>
            </a:xfrm>
            <a:custGeom>
              <a:avLst/>
              <a:gdLst>
                <a:gd name="w" fmla="val 2600000"/>
                <a:gd name="h" fmla="val 3200000"/>
              </a:gdLst>
              <a:ahLst/>
              <a:cxnLst/>
              <a:rect l="0" t="0" r="2600000" b="3200000"/>
              <a:pathLst>
                <a:path w="2600000" h="3200000">
                  <a:moveTo>
                    <a:pt x="0" y="500000"/>
                  </a:moveTo>
                  <a:lnTo>
                    <a:pt x="1300000" y="3200000"/>
                  </a:lnTo>
                  <a:lnTo>
                    <a:pt x="2600000" y="500000"/>
                  </a:lnTo>
                  <a:cubicBezTo>
                    <a:pt x="2600000" y="776000"/>
                    <a:pt x="2017000" y="1000000"/>
                    <a:pt x="1300000" y="1000000"/>
                  </a:cubicBezTo>
                  <a:cubicBezTo>
                    <a:pt x="583000" y="1000000"/>
                    <a:pt x="0" y="776000"/>
                    <a:pt x="0" y="500000"/>
                  </a:cubicBezTo>
                  <a:close/>
                </a:path>
              </a:pathLst>
            </a:custGeom>
            <a:gradFill>
              <a:gsLst>
                <a:gs pos="0">
                  <a:srgbClr val="4472C4"/>
                </a:gs>
                <a:gs pos="50000">
                  <a:srgbClr val="6FA3E8"/>
                </a:gs>
                <a:gs pos="100000">
                  <a:srgbClr val="2B579A"/>
                </a:gs>
              </a:gsLst>
              <a:lin ang="0" scaled="1"/>
            </a:gradFill>
            <a:ln w="12700">
              <a:solidFill>
                <a:srgbClr val="2B579A"/>
              </a:solidFill>
            </a:ln>
          </p:spPr>
          <p:txBody>
            <a:bodyPr/>
            <a:lstStyle/>
            <a:p>
              <a:endParaRPr lang="zh-CN"/>
            </a:p>
          </p:txBody>
        </p:sp>
        <p:sp>
          <p:nvSpPr>
            <p:cNvPr id="9102" name="ConeTopEllipse"/>
            <p:cNvSpPr/>
            <p:nvPr/>
          </p:nvSpPr>
          <p:spPr>
            <a:xfrm>
              <a:off x="0" y="0"/>
              <a:ext cx="2600000" cy="1000000"/>
            </a:xfrm>
            <a:prstGeom prst="ellipse">
              <a:avLst/>
            </a:prstGeom>
            <a:gradFill>
              <a:gsLst>
                <a:gs pos="0">
                  <a:srgbClr val="B4C7E7">
                    <a:alpha val="70000"/>
                  </a:srgbClr>
                </a:gs>
                <a:gs pos="100000">
                  <a:srgbClr val="8FAADC">
                    <a:alpha val="70000"/>
                  </a:srgbClr>
                </a:gs>
              </a:gsLst>
              <a:lin ang="5400000" scaled="1"/>
            </a:gradFill>
            <a:ln w="15875">
              <a:solidFill>
                <a:srgbClr val="2B579A"/>
              </a:solidFill>
            </a:ln>
          </p:spPr>
          <p:txBody>
            <a:bodyPr/>
            <a:lstStyle/>
            <a:p>
              <a:endParaRPr lang="zh-CN"/>
            </a:p>
          </p:txBody>
        </p:sp>
        <p:sp>
          <p:nvSpPr>
            <p:cNvPr id="9103" name="ConeBackArc"/>
            <p:cNvSpPr/>
            <p:nvPr/>
          </p:nvSpPr>
          <p:spPr>
            <a:xfrm>
              <a:off x="0" y="0"/>
              <a:ext cx="2600000" cy="3200000"/>
            </a:xfrm>
            <a:custGeom>
              <a:avLst/>
              <a:gdLst/>
              <a:ahLst/>
              <a:cxnLst/>
              <a:rect l="0" t="0" r="2600000" b="3200000"/>
              <a:pathLst>
                <a:path w="2600000" h="3200000">
                  <a:moveTo>
                    <a:pt x="0" y="500000"/>
                  </a:moveTo>
                  <a:cubicBezTo>
                    <a:pt x="0" y="224000"/>
                    <a:pt x="583000" y="0"/>
                    <a:pt x="1300000" y="0"/>
                  </a:cubicBezTo>
                  <a:cubicBezTo>
                    <a:pt x="2017000" y="0"/>
                    <a:pt x="2600000" y="224000"/>
                    <a:pt x="2600000" y="500000"/>
                  </a:cubicBezTo>
                </a:path>
              </a:pathLst>
            </a:custGeom>
            <a:noFill/>
            <a:ln w="12700">
              <a:solidFill>
                <a:srgbClr val="2B579A"/>
              </a:solidFill>
              <a:prstDash val="dash"/>
            </a:ln>
          </p:spPr>
          <p:txBody>
            <a:bodyPr/>
            <a:lstStyle/>
            <a:p>
              <a:endParaRPr lang="zh-CN"/>
            </a:p>
          </p:txBody>
        </p:sp>
      </p:grpSp>
      <p:grpSp>
        <p:nvGrpSpPr>
          <p:cNvPr id="9200" name="CurveChart"/>
          <p:cNvGrpSpPr/>
          <p:nvPr/>
        </p:nvGrpSpPr>
        <p:grpSpPr>
          <a:xfrm>
            <a:off x="8600000" y="1000000"/>
            <a:ext cx="3200000" cy="2800000"/>
            <a:chOff x="0" y="0"/>
            <a:chExt cx="3200000" cy="2800000"/>
          </a:xfrm>
        </p:grpSpPr>
        <p:sp>
          <p:nvSpPr>
            <p:cNvPr id="9201" name="YAxis"/>
            <p:cNvSpPr/>
            <p:nvPr/>
          </p:nvSpPr>
          <p:spPr>
            <a:xfrm>
              <a:off x="0" y="0"/>
              <a:ext cx="3200000" cy="2800000"/>
            </a:xfrm>
            <a:custGeom>
              <a:avLst/>
              <a:gdLst/>
              <a:ahLst/>
              <a:cxnLst/>
              <a:rect l="0" t="0" r="3200000" b="2800000"/>
              <a:pathLst>
                <a:path w="3200000" h="2800000">
                  <a:moveTo>
                    <a:pt x="300000" y="2500000"/>
                  </a:moveTo>
                  <a:lnTo>
                    <a:pt x="300000" y="20000"/>
                  </a:lnTo>
                  <a:moveTo>
                    <a:pt x="240000" y="140000"/>
                  </a:moveTo>
                  <a:lnTo>
                    <a:pt x="300000" y="20000"/>
                  </a:lnTo>
                  <a:lnTo>
                    <a:pt x="360000" y="140000"/>
                  </a:lnTo>
                </a:path>
              </a:pathLst>
            </a:custGeom>
            <a:noFill/>
            <a:ln w="15875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02" name="XAxis"/>
            <p:cNvSpPr/>
            <p:nvPr/>
          </p:nvSpPr>
          <p:spPr>
            <a:xfrm>
              <a:off x="0" y="0"/>
              <a:ext cx="3200000" cy="2800000"/>
            </a:xfrm>
            <a:custGeom>
              <a:avLst/>
              <a:gdLst/>
              <a:ahLst/>
              <a:cxnLst/>
              <a:rect l="0" t="0" r="3200000" b="2800000"/>
              <a:pathLst>
                <a:path w="3200000" h="2800000">
                  <a:moveTo>
                    <a:pt x="300000" y="2500000"/>
                  </a:moveTo>
                  <a:lnTo>
                    <a:pt x="3180000" y="2500000"/>
                  </a:lnTo>
                  <a:moveTo>
                    <a:pt x="3060000" y="2440000"/>
                  </a:moveTo>
                  <a:lnTo>
                    <a:pt x="3180000" y="2500000"/>
                  </a:lnTo>
                  <a:lnTo>
                    <a:pt x="3060000" y="2560000"/>
                  </a:lnTo>
                </a:path>
              </a:pathLst>
            </a:custGeom>
            <a:noFill/>
            <a:ln w="15875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03" name="Curve"/>
            <p:cNvSpPr/>
            <p:nvPr/>
          </p:nvSpPr>
          <p:spPr>
            <a:xfrm>
              <a:off x="0" y="0"/>
              <a:ext cx="3200000" cy="2800000"/>
            </a:xfrm>
            <a:custGeom>
              <a:avLst/>
              <a:gdLst/>
              <a:ahLst/>
              <a:cxnLst/>
              <a:rect l="0" t="0" r="3200000" b="2800000"/>
              <a:pathLst>
                <a:path w="3200000" h="2800000">
                  <a:moveTo>
                    <a:pt x="300000" y="2500000"/>
                  </a:moveTo>
                  <a:lnTo>
                    <a:pt x="370000" y="2454845"/>
                  </a:lnTo>
                  <a:lnTo>
                    <a:pt x="440000" y="2408547"/>
                  </a:lnTo>
                  <a:lnTo>
                    <a:pt x="510000" y="2360637"/>
                  </a:lnTo>
                  <a:lnTo>
                    <a:pt x="580000" y="2310436"/>
                  </a:lnTo>
                  <a:lnTo>
                    <a:pt x="650000" y="2257037"/>
                  </a:lnTo>
                  <a:lnTo>
                    <a:pt x="720000" y="2199311"/>
                  </a:lnTo>
                  <a:lnTo>
                    <a:pt x="789999" y="2135944"/>
                  </a:lnTo>
                  <a:lnTo>
                    <a:pt x="860000" y="2065501"/>
                  </a:lnTo>
                  <a:lnTo>
                    <a:pt x="930000" y="1986546"/>
                  </a:lnTo>
                  <a:lnTo>
                    <a:pt x="1000000" y="1897786"/>
                  </a:lnTo>
                  <a:lnTo>
                    <a:pt x="1070000" y="1798257"/>
                  </a:lnTo>
                  <a:lnTo>
                    <a:pt x="1140000" y="1687531"/>
                  </a:lnTo>
                  <a:lnTo>
                    <a:pt x="1210000" y="1565919"/>
                  </a:lnTo>
                  <a:lnTo>
                    <a:pt x="1279999" y="1434643"/>
                  </a:lnTo>
                  <a:lnTo>
                    <a:pt x="1350000" y="1295959"/>
                  </a:lnTo>
                  <a:lnTo>
                    <a:pt x="1420000" y="1153192"/>
                  </a:lnTo>
                  <a:lnTo>
                    <a:pt x="1490000" y="1010660"/>
                  </a:lnTo>
                  <a:lnTo>
                    <a:pt x="1560000" y="873491"/>
                  </a:lnTo>
                  <a:lnTo>
                    <a:pt x="1630000" y="747321"/>
                  </a:lnTo>
                  <a:lnTo>
                    <a:pt x="1700000" y="637903"/>
                  </a:lnTo>
                  <a:lnTo>
                    <a:pt x="1770000" y="550657"/>
                  </a:lnTo>
                  <a:lnTo>
                    <a:pt x="1840000" y="490213"/>
                  </a:lnTo>
                  <a:lnTo>
                    <a:pt x="1909999" y="460000"/>
                  </a:lnTo>
                  <a:lnTo>
                    <a:pt x="1980000" y="461922"/>
                  </a:lnTo>
                  <a:lnTo>
                    <a:pt x="2050000" y="496171"/>
                  </a:lnTo>
                  <a:lnTo>
                    <a:pt x="2120000" y="561206"/>
                  </a:lnTo>
                  <a:lnTo>
                    <a:pt x="2190000" y="653886"/>
                  </a:lnTo>
                  <a:lnTo>
                    <a:pt x="2259999" y="769750"/>
                  </a:lnTo>
                  <a:lnTo>
                    <a:pt x="2330000" y="903415"/>
                  </a:lnTo>
                  <a:lnTo>
                    <a:pt x="2400000" y="1049030"/>
                  </a:lnTo>
                  <a:lnTo>
                    <a:pt x="2470000" y="1200741"/>
                  </a:lnTo>
                  <a:lnTo>
                    <a:pt x="2540000" y="1353114"/>
                  </a:lnTo>
                  <a:lnTo>
                    <a:pt x="2610000" y="1501477"/>
                  </a:lnTo>
                  <a:lnTo>
                    <a:pt x="2680000" y="1642148"/>
                  </a:lnTo>
                  <a:lnTo>
                    <a:pt x="2750000" y="1772548"/>
                  </a:lnTo>
                  <a:lnTo>
                    <a:pt x="2820000" y="1891190"/>
                  </a:lnTo>
                  <a:lnTo>
                    <a:pt x="2890000" y="1997583"/>
                  </a:lnTo>
                  <a:lnTo>
                    <a:pt x="2960000" y="2092058"/>
                  </a:lnTo>
                  <a:lnTo>
                    <a:pt x="3030000" y="2175557"/>
                  </a:lnTo>
                  <a:lnTo>
                    <a:pt x="3100000" y="224942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04" name="OriginLabel"/>
            <p:cNvSpPr txBox="1"/>
            <p:nvPr/>
          </p:nvSpPr>
          <p:spPr>
            <a:xfrm>
              <a:off x="100000" y="2510000"/>
              <a:ext cx="200000" cy="20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ctr"/>
              <a:r>
                <a:rPr lang="en-US" sz="900" i="1" dirty="0">
                  <a:solidFill>
                    <a:srgbClr val="000000"/>
                  </a:solidFill>
                  <a:latin typeface="Times New Roman"/>
                </a:rPr>
                <a:t>O</a:t>
              </a:r>
            </a:p>
          </p:txBody>
        </p:sp>
      </p:grpSp>
      <p:sp>
        <p:nvSpPr>
          <p:cNvPr id="9300" name="GoldGlowRect"/>
          <p:cNvSpPr/>
          <p:nvPr/>
        </p:nvSpPr>
        <p:spPr>
          <a:xfrm>
            <a:off x="2892440" y="2964347"/>
            <a:ext cx="5200000" cy="260000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D4A843"/>
            </a:solidFill>
            <a:round/>
          </a:ln>
          <a:effectLst>
            <a:innerShdw blurRad="381000">
              <a:srgbClr val="D4A843">
                <a:alpha val="55000"/>
              </a:srgbClr>
            </a:innerShdw>
          </a:effectLst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grpSp>
        <p:nvGrpSpPr>
          <p:cNvPr id="9400" name="SFTLossChart"/>
          <p:cNvGrpSpPr/>
          <p:nvPr/>
        </p:nvGrpSpPr>
        <p:grpSpPr>
          <a:xfrm>
            <a:off x="5573146" y="5215976"/>
            <a:ext cx="1781548" cy="1555857"/>
            <a:chOff x="0" y="0"/>
            <a:chExt cx="2700000" cy="2200000"/>
          </a:xfrm>
        </p:grpSpPr>
        <p:sp>
          <p:nvSpPr>
            <p:cNvPr id="9401" name="SFTLossChart_YAxis"/>
            <p:cNvSpPr/>
            <p:nvPr/>
          </p:nvSpPr>
          <p:spPr>
            <a:xfrm>
              <a:off x="0" y="0"/>
              <a:ext cx="2700000" cy="2200000"/>
            </a:xfrm>
            <a:custGeom>
              <a:avLst/>
              <a:gdLst/>
              <a:ahLst/>
              <a:cxnLst/>
              <a:rect l="0" t="0" r="2700000" b="2200000"/>
              <a:pathLst>
                <a:path w="2700000" h="2200000">
                  <a:moveTo>
                    <a:pt x="250000" y="1950000"/>
                  </a:moveTo>
                  <a:lnTo>
                    <a:pt x="250000" y="140000"/>
                  </a:lnTo>
                  <a:moveTo>
                    <a:pt x="205000" y="230000"/>
                  </a:moveTo>
                  <a:lnTo>
                    <a:pt x="250000" y="140000"/>
                  </a:lnTo>
                  <a:lnTo>
                    <a:pt x="295000" y="230000"/>
                  </a:lnTo>
                  <a:moveTo>
                    <a:pt x="250000" y="1512500"/>
                  </a:moveTo>
                  <a:lnTo>
                    <a:pt x="210000" y="1512500"/>
                  </a:lnTo>
                  <a:moveTo>
                    <a:pt x="250000" y="1075000"/>
                  </a:moveTo>
                  <a:lnTo>
                    <a:pt x="210000" y="1075000"/>
                  </a:lnTo>
                  <a:moveTo>
                    <a:pt x="250000" y="637500"/>
                  </a:moveTo>
                  <a:lnTo>
                    <a:pt x="210000" y="637500"/>
                  </a:lnTo>
                </a:path>
              </a:pathLst>
            </a:custGeom>
            <a:noFill/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02" name="SFTLossChart_XAxis"/>
            <p:cNvSpPr/>
            <p:nvPr/>
          </p:nvSpPr>
          <p:spPr>
            <a:xfrm>
              <a:off x="0" y="0"/>
              <a:ext cx="2700000" cy="2200000"/>
            </a:xfrm>
            <a:custGeom>
              <a:avLst/>
              <a:gdLst/>
              <a:ahLst/>
              <a:cxnLst/>
              <a:rect l="0" t="0" r="2700000" b="2200000"/>
              <a:pathLst>
                <a:path w="2700000" h="2200000">
                  <a:moveTo>
                    <a:pt x="250000" y="1950000"/>
                  </a:moveTo>
                  <a:lnTo>
                    <a:pt x="2680000" y="1950000"/>
                  </a:lnTo>
                  <a:moveTo>
                    <a:pt x="2590000" y="1905000"/>
                  </a:moveTo>
                  <a:lnTo>
                    <a:pt x="2680000" y="1950000"/>
                  </a:lnTo>
                  <a:lnTo>
                    <a:pt x="2590000" y="1995000"/>
                  </a:lnTo>
                  <a:moveTo>
                    <a:pt x="842500" y="1950000"/>
                  </a:moveTo>
                  <a:lnTo>
                    <a:pt x="842500" y="1990000"/>
                  </a:lnTo>
                  <a:moveTo>
                    <a:pt x="1435000" y="1950000"/>
                  </a:moveTo>
                  <a:lnTo>
                    <a:pt x="1435000" y="1990000"/>
                  </a:lnTo>
                  <a:moveTo>
                    <a:pt x="2027500" y="1950000"/>
                  </a:moveTo>
                  <a:lnTo>
                    <a:pt x="2027500" y="1990000"/>
                  </a:lnTo>
                  <a:moveTo>
                    <a:pt x="2620000" y="1950000"/>
                  </a:moveTo>
                  <a:lnTo>
                    <a:pt x="2620000" y="1990000"/>
                  </a:lnTo>
                </a:path>
              </a:pathLst>
            </a:custGeom>
            <a:noFill/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03" name="SFTLossChart_Curve"/>
            <p:cNvSpPr/>
            <p:nvPr/>
          </p:nvSpPr>
          <p:spPr>
            <a:xfrm>
              <a:off x="0" y="0"/>
              <a:ext cx="2700000" cy="2200000"/>
            </a:xfrm>
            <a:custGeom>
              <a:avLst/>
              <a:gdLst/>
              <a:ahLst/>
              <a:cxnLst/>
              <a:rect l="0" t="0" r="2700000" b="2200000"/>
              <a:pathLst>
                <a:path w="2700000" h="2200000">
                  <a:moveTo>
                    <a:pt x="250000" y="427500"/>
                  </a:moveTo>
                  <a:lnTo>
                    <a:pt x="297400" y="525392"/>
                  </a:lnTo>
                  <a:lnTo>
                    <a:pt x="344800" y="616830"/>
                  </a:lnTo>
                  <a:lnTo>
                    <a:pt x="392200" y="704232"/>
                  </a:lnTo>
                  <a:lnTo>
                    <a:pt x="439600" y="789358"/>
                  </a:lnTo>
                  <a:lnTo>
                    <a:pt x="487000" y="873130"/>
                  </a:lnTo>
                  <a:lnTo>
                    <a:pt x="534400" y="955581"/>
                  </a:lnTo>
                  <a:lnTo>
                    <a:pt x="581800" y="1035930"/>
                  </a:lnTo>
                  <a:lnTo>
                    <a:pt x="629200" y="1112791"/>
                  </a:lnTo>
                  <a:lnTo>
                    <a:pt x="676600" y="1184458"/>
                  </a:lnTo>
                  <a:lnTo>
                    <a:pt x="724000" y="1249244"/>
                  </a:lnTo>
                  <a:lnTo>
                    <a:pt x="771400" y="1305806"/>
                  </a:lnTo>
                  <a:lnTo>
                    <a:pt x="818800" y="1353419"/>
                  </a:lnTo>
                  <a:lnTo>
                    <a:pt x="866200" y="1392139"/>
                  </a:lnTo>
                  <a:lnTo>
                    <a:pt x="913600" y="1422843"/>
                  </a:lnTo>
                  <a:lnTo>
                    <a:pt x="961000" y="1447138"/>
                  </a:lnTo>
                  <a:lnTo>
                    <a:pt x="1008400" y="1467144"/>
                  </a:lnTo>
                  <a:lnTo>
                    <a:pt x="1055800" y="1485202"/>
                  </a:lnTo>
                  <a:lnTo>
                    <a:pt x="1103200" y="1503538"/>
                  </a:lnTo>
                  <a:lnTo>
                    <a:pt x="1150600" y="1523943"/>
                  </a:lnTo>
                  <a:lnTo>
                    <a:pt x="1198000" y="1547520"/>
                  </a:lnTo>
                  <a:lnTo>
                    <a:pt x="1245400" y="1574542"/>
                  </a:lnTo>
                  <a:lnTo>
                    <a:pt x="1292800" y="1604427"/>
                  </a:lnTo>
                  <a:lnTo>
                    <a:pt x="1340200" y="1635861"/>
                  </a:lnTo>
                  <a:lnTo>
                    <a:pt x="1387600" y="1667021"/>
                  </a:lnTo>
                  <a:lnTo>
                    <a:pt x="1435000" y="1695889"/>
                  </a:lnTo>
                  <a:lnTo>
                    <a:pt x="1482400" y="1720582"/>
                  </a:lnTo>
                  <a:lnTo>
                    <a:pt x="1529800" y="1739674"/>
                  </a:lnTo>
                  <a:lnTo>
                    <a:pt x="1577200" y="1752431"/>
                  </a:lnTo>
                  <a:lnTo>
                    <a:pt x="1624600" y="1758945"/>
                  </a:lnTo>
                  <a:lnTo>
                    <a:pt x="1672000" y="1760131"/>
                  </a:lnTo>
                  <a:lnTo>
                    <a:pt x="1719400" y="1757595"/>
                  </a:lnTo>
                  <a:lnTo>
                    <a:pt x="1766800" y="1753395"/>
                  </a:lnTo>
                  <a:lnTo>
                    <a:pt x="1814200" y="1749723"/>
                  </a:lnTo>
                  <a:lnTo>
                    <a:pt x="1861600" y="1748570"/>
                  </a:lnTo>
                  <a:lnTo>
                    <a:pt x="1909000" y="1751420"/>
                  </a:lnTo>
                  <a:lnTo>
                    <a:pt x="1956400" y="1759027"/>
                  </a:lnTo>
                  <a:lnTo>
                    <a:pt x="2003800" y="1771300"/>
                  </a:lnTo>
                  <a:lnTo>
                    <a:pt x="2051200" y="1787325"/>
                  </a:lnTo>
                  <a:lnTo>
                    <a:pt x="2098600" y="1805520"/>
                  </a:lnTo>
                  <a:lnTo>
                    <a:pt x="2146000" y="1823885"/>
                  </a:lnTo>
                  <a:lnTo>
                    <a:pt x="2193400" y="1840326"/>
                  </a:lnTo>
                  <a:lnTo>
                    <a:pt x="2240800" y="1852992"/>
                  </a:lnTo>
                  <a:lnTo>
                    <a:pt x="2288200" y="1860571"/>
                  </a:lnTo>
                  <a:lnTo>
                    <a:pt x="2335600" y="1862500"/>
                  </a:lnTo>
                  <a:lnTo>
                    <a:pt x="2383000" y="1859061"/>
                  </a:lnTo>
                  <a:lnTo>
                    <a:pt x="2430400" y="1851335"/>
                  </a:lnTo>
                  <a:lnTo>
                    <a:pt x="2477800" y="1841043"/>
                  </a:lnTo>
                  <a:lnTo>
                    <a:pt x="2525200" y="1830269"/>
                  </a:lnTo>
                  <a:lnTo>
                    <a:pt x="2572600" y="1821139"/>
                  </a:lnTo>
                  <a:lnTo>
                    <a:pt x="2620000" y="1815488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04" name="SFTLossChart_Title"/>
            <p:cNvSpPr txBox="1"/>
            <p:nvPr/>
          </p:nvSpPr>
          <p:spPr>
            <a:xfrm>
              <a:off x="250000" y="0"/>
              <a:ext cx="2370000" cy="200000"/>
            </a:xfrm>
            <a:prstGeom prst="rect">
              <a:avLst/>
            </a:prstGeom>
            <a:noFill/>
          </p:spPr>
          <p:txBody>
            <a:bodyPr wrap="square" lIns="0" tIns="0" rIns="0" bIns="0" anchor="b"/>
            <a:lstStyle/>
            <a:p>
              <a:pPr algn="ctr"/>
              <a:r>
                <a:rPr lang="en-US" sz="800" b="1" dirty="0">
                  <a:solidFill>
                    <a:srgbClr val="000000"/>
                  </a:solidFill>
                  <a:latin typeface="Times New Roman"/>
                </a:rPr>
                <a:t>SFT Loss</a:t>
              </a:r>
            </a:p>
          </p:txBody>
        </p:sp>
        <p:sp>
          <p:nvSpPr>
            <p:cNvPr id="9405" name="SFTLossChart_YLabel"/>
            <p:cNvSpPr txBox="1"/>
            <p:nvPr/>
          </p:nvSpPr>
          <p:spPr>
            <a:xfrm rot="16200000">
              <a:off x="-780000" y="980000"/>
              <a:ext cx="1750000" cy="19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  <a:latin typeface="Times New Roman"/>
                </a:rPr>
                <a:t>Loss</a:t>
              </a:r>
            </a:p>
          </p:txBody>
        </p:sp>
        <p:sp>
          <p:nvSpPr>
            <p:cNvPr id="9406" name="SFTLossChart_XLabel"/>
            <p:cNvSpPr txBox="1"/>
            <p:nvPr/>
          </p:nvSpPr>
          <p:spPr>
            <a:xfrm>
              <a:off x="250000" y="2000000"/>
              <a:ext cx="2370000" cy="19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  <a:latin typeface="Times New Roman"/>
                </a:rPr>
                <a:t>Step</a:t>
              </a:r>
            </a:p>
          </p:txBody>
        </p:sp>
      </p:grpSp>
      <p:grpSp>
        <p:nvGrpSpPr>
          <p:cNvPr id="9500" name="GRPOLossChart"/>
          <p:cNvGrpSpPr/>
          <p:nvPr/>
        </p:nvGrpSpPr>
        <p:grpSpPr>
          <a:xfrm>
            <a:off x="10602685" y="5564346"/>
            <a:ext cx="1423643" cy="1310567"/>
            <a:chOff x="0" y="0"/>
            <a:chExt cx="2700000" cy="2200000"/>
          </a:xfrm>
        </p:grpSpPr>
        <p:sp>
          <p:nvSpPr>
            <p:cNvPr id="9501" name="GRPOLossChart_YAxis"/>
            <p:cNvSpPr/>
            <p:nvPr/>
          </p:nvSpPr>
          <p:spPr>
            <a:xfrm>
              <a:off x="0" y="0"/>
              <a:ext cx="2700000" cy="2200000"/>
            </a:xfrm>
            <a:custGeom>
              <a:avLst/>
              <a:gdLst/>
              <a:ahLst/>
              <a:cxnLst/>
              <a:rect l="0" t="0" r="2700000" b="2200000"/>
              <a:pathLst>
                <a:path w="2700000" h="2200000">
                  <a:moveTo>
                    <a:pt x="250000" y="1950000"/>
                  </a:moveTo>
                  <a:lnTo>
                    <a:pt x="250000" y="140000"/>
                  </a:lnTo>
                  <a:moveTo>
                    <a:pt x="205000" y="230000"/>
                  </a:moveTo>
                  <a:lnTo>
                    <a:pt x="250000" y="140000"/>
                  </a:lnTo>
                  <a:lnTo>
                    <a:pt x="295000" y="230000"/>
                  </a:lnTo>
                  <a:moveTo>
                    <a:pt x="250000" y="1512500"/>
                  </a:moveTo>
                  <a:lnTo>
                    <a:pt x="210000" y="1512500"/>
                  </a:lnTo>
                  <a:moveTo>
                    <a:pt x="250000" y="1075000"/>
                  </a:moveTo>
                  <a:lnTo>
                    <a:pt x="210000" y="1075000"/>
                  </a:lnTo>
                  <a:moveTo>
                    <a:pt x="250000" y="637500"/>
                  </a:moveTo>
                  <a:lnTo>
                    <a:pt x="210000" y="637500"/>
                  </a:lnTo>
                </a:path>
              </a:pathLst>
            </a:custGeom>
            <a:noFill/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02" name="GRPOLossChart_XAxis"/>
            <p:cNvSpPr/>
            <p:nvPr/>
          </p:nvSpPr>
          <p:spPr>
            <a:xfrm>
              <a:off x="0" y="0"/>
              <a:ext cx="2700000" cy="2200000"/>
            </a:xfrm>
            <a:custGeom>
              <a:avLst/>
              <a:gdLst/>
              <a:ahLst/>
              <a:cxnLst/>
              <a:rect l="0" t="0" r="2700000" b="2200000"/>
              <a:pathLst>
                <a:path w="2700000" h="2200000">
                  <a:moveTo>
                    <a:pt x="250000" y="1950000"/>
                  </a:moveTo>
                  <a:lnTo>
                    <a:pt x="2680000" y="1950000"/>
                  </a:lnTo>
                  <a:moveTo>
                    <a:pt x="2590000" y="1905000"/>
                  </a:moveTo>
                  <a:lnTo>
                    <a:pt x="2680000" y="1950000"/>
                  </a:lnTo>
                  <a:lnTo>
                    <a:pt x="2590000" y="1995000"/>
                  </a:lnTo>
                  <a:moveTo>
                    <a:pt x="842500" y="1950000"/>
                  </a:moveTo>
                  <a:lnTo>
                    <a:pt x="842500" y="1990000"/>
                  </a:lnTo>
                  <a:moveTo>
                    <a:pt x="1435000" y="1950000"/>
                  </a:moveTo>
                  <a:lnTo>
                    <a:pt x="1435000" y="1990000"/>
                  </a:lnTo>
                  <a:moveTo>
                    <a:pt x="2027500" y="1950000"/>
                  </a:moveTo>
                  <a:lnTo>
                    <a:pt x="2027500" y="1990000"/>
                  </a:lnTo>
                  <a:moveTo>
                    <a:pt x="2620000" y="1950000"/>
                  </a:moveTo>
                  <a:lnTo>
                    <a:pt x="2620000" y="1990000"/>
                  </a:lnTo>
                </a:path>
              </a:pathLst>
            </a:custGeom>
            <a:noFill/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03" name="GRPOLossChart_Curve"/>
            <p:cNvSpPr/>
            <p:nvPr/>
          </p:nvSpPr>
          <p:spPr>
            <a:xfrm>
              <a:off x="0" y="0"/>
              <a:ext cx="2700000" cy="2200000"/>
            </a:xfrm>
            <a:custGeom>
              <a:avLst/>
              <a:gdLst/>
              <a:ahLst/>
              <a:cxnLst/>
              <a:rect l="0" t="0" r="2700000" b="2200000"/>
              <a:pathLst>
                <a:path w="2700000" h="2200000">
                  <a:moveTo>
                    <a:pt x="250000" y="427500"/>
                  </a:moveTo>
                  <a:lnTo>
                    <a:pt x="297400" y="534245"/>
                  </a:lnTo>
                  <a:lnTo>
                    <a:pt x="344800" y="637411"/>
                  </a:lnTo>
                  <a:lnTo>
                    <a:pt x="392200" y="742404"/>
                  </a:lnTo>
                  <a:lnTo>
                    <a:pt x="439600" y="850970"/>
                  </a:lnTo>
                  <a:lnTo>
                    <a:pt x="487000" y="961328"/>
                  </a:lnTo>
                  <a:lnTo>
                    <a:pt x="534400" y="1069109"/>
                  </a:lnTo>
                  <a:lnTo>
                    <a:pt x="581800" y="1168804"/>
                  </a:lnTo>
                  <a:lnTo>
                    <a:pt x="629200" y="1255358"/>
                  </a:lnTo>
                  <a:lnTo>
                    <a:pt x="676600" y="1325509"/>
                  </a:lnTo>
                  <a:lnTo>
                    <a:pt x="724000" y="1378587"/>
                  </a:lnTo>
                  <a:lnTo>
                    <a:pt x="771400" y="1416618"/>
                  </a:lnTo>
                  <a:lnTo>
                    <a:pt x="818800" y="1443772"/>
                  </a:lnTo>
                  <a:lnTo>
                    <a:pt x="866200" y="1465330"/>
                  </a:lnTo>
                  <a:lnTo>
                    <a:pt x="913600" y="1486456"/>
                  </a:lnTo>
                  <a:lnTo>
                    <a:pt x="961000" y="1511085"/>
                  </a:lnTo>
                  <a:lnTo>
                    <a:pt x="1008400" y="1541171"/>
                  </a:lnTo>
                  <a:lnTo>
                    <a:pt x="1055800" y="1576460"/>
                  </a:lnTo>
                  <a:lnTo>
                    <a:pt x="1103200" y="1614792"/>
                  </a:lnTo>
                  <a:lnTo>
                    <a:pt x="1150600" y="1652824"/>
                  </a:lnTo>
                  <a:lnTo>
                    <a:pt x="1198000" y="1686975"/>
                  </a:lnTo>
                  <a:lnTo>
                    <a:pt x="1245400" y="1714343"/>
                  </a:lnTo>
                  <a:lnTo>
                    <a:pt x="1292800" y="1733390"/>
                  </a:lnTo>
                  <a:lnTo>
                    <a:pt x="1340200" y="1744247"/>
                  </a:lnTo>
                  <a:lnTo>
                    <a:pt x="1387600" y="1748591"/>
                  </a:lnTo>
                  <a:lnTo>
                    <a:pt x="1435000" y="1749172"/>
                  </a:lnTo>
                  <a:lnTo>
                    <a:pt x="1482400" y="1749102"/>
                  </a:lnTo>
                  <a:lnTo>
                    <a:pt x="1529800" y="1751132"/>
                  </a:lnTo>
                  <a:lnTo>
                    <a:pt x="1577200" y="1757044"/>
                  </a:lnTo>
                  <a:lnTo>
                    <a:pt x="1624600" y="1767337"/>
                  </a:lnTo>
                  <a:lnTo>
                    <a:pt x="1672000" y="1781222"/>
                  </a:lnTo>
                  <a:lnTo>
                    <a:pt x="1719400" y="1796933"/>
                  </a:lnTo>
                  <a:lnTo>
                    <a:pt x="1766800" y="1812237"/>
                  </a:lnTo>
                  <a:lnTo>
                    <a:pt x="1814200" y="1825012"/>
                  </a:lnTo>
                  <a:lnTo>
                    <a:pt x="1861600" y="1833760"/>
                  </a:lnTo>
                  <a:lnTo>
                    <a:pt x="1909000" y="1837924"/>
                  </a:lnTo>
                  <a:lnTo>
                    <a:pt x="1956400" y="1837961"/>
                  </a:lnTo>
                  <a:lnTo>
                    <a:pt x="2003800" y="1835166"/>
                  </a:lnTo>
                  <a:lnTo>
                    <a:pt x="2051200" y="1831310"/>
                  </a:lnTo>
                  <a:lnTo>
                    <a:pt x="2098600" y="1828197"/>
                  </a:lnTo>
                  <a:lnTo>
                    <a:pt x="2146000" y="1827236"/>
                  </a:lnTo>
                  <a:lnTo>
                    <a:pt x="2193400" y="1829151"/>
                  </a:lnTo>
                  <a:lnTo>
                    <a:pt x="2240800" y="1833866"/>
                  </a:lnTo>
                  <a:lnTo>
                    <a:pt x="2288200" y="1840591"/>
                  </a:lnTo>
                  <a:lnTo>
                    <a:pt x="2335600" y="1848068"/>
                  </a:lnTo>
                  <a:lnTo>
                    <a:pt x="2383000" y="1854913"/>
                  </a:lnTo>
                  <a:lnTo>
                    <a:pt x="2430400" y="1859955"/>
                  </a:lnTo>
                  <a:lnTo>
                    <a:pt x="2477800" y="1862500"/>
                  </a:lnTo>
                  <a:lnTo>
                    <a:pt x="2525200" y="1862468"/>
                  </a:lnTo>
                  <a:lnTo>
                    <a:pt x="2572600" y="1860361"/>
                  </a:lnTo>
                  <a:lnTo>
                    <a:pt x="2620000" y="1857106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04" name="GRPOLossChart_Title"/>
            <p:cNvSpPr txBox="1"/>
            <p:nvPr/>
          </p:nvSpPr>
          <p:spPr>
            <a:xfrm>
              <a:off x="250000" y="0"/>
              <a:ext cx="2370000" cy="200000"/>
            </a:xfrm>
            <a:prstGeom prst="rect">
              <a:avLst/>
            </a:prstGeom>
            <a:noFill/>
          </p:spPr>
          <p:txBody>
            <a:bodyPr wrap="square" lIns="0" tIns="0" rIns="0" bIns="0" anchor="b"/>
            <a:lstStyle/>
            <a:p>
              <a:pPr algn="ctr"/>
              <a:r>
                <a:rPr lang="en-US" sz="800" b="1" dirty="0">
                  <a:solidFill>
                    <a:srgbClr val="000000"/>
                  </a:solidFill>
                  <a:latin typeface="Times New Roman"/>
                </a:rPr>
                <a:t>GRPO Loss</a:t>
              </a:r>
            </a:p>
          </p:txBody>
        </p:sp>
        <p:sp>
          <p:nvSpPr>
            <p:cNvPr id="9505" name="GRPOLossChart_YLabel"/>
            <p:cNvSpPr txBox="1"/>
            <p:nvPr/>
          </p:nvSpPr>
          <p:spPr>
            <a:xfrm rot="16200000">
              <a:off x="-780000" y="980000"/>
              <a:ext cx="1750000" cy="19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  <a:latin typeface="Times New Roman"/>
                </a:rPr>
                <a:t>Loss</a:t>
              </a:r>
            </a:p>
          </p:txBody>
        </p:sp>
        <p:sp>
          <p:nvSpPr>
            <p:cNvPr id="9506" name="GRPOLossChart_XLabel"/>
            <p:cNvSpPr txBox="1"/>
            <p:nvPr/>
          </p:nvSpPr>
          <p:spPr>
            <a:xfrm>
              <a:off x="250000" y="2000000"/>
              <a:ext cx="2370000" cy="19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  <a:latin typeface="Times New Roman"/>
                </a:rPr>
                <a:t>Step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E64D0-D3F0-7A67-4AA0-7D9D995E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640C1C31-9A02-9571-6BFB-13F971FCB5B5}"/>
              </a:ext>
            </a:extLst>
          </p:cNvPr>
          <p:cNvGrpSpPr/>
          <p:nvPr/>
        </p:nvGrpSpPr>
        <p:grpSpPr>
          <a:xfrm>
            <a:off x="173355" y="293914"/>
            <a:ext cx="11548587" cy="5606143"/>
            <a:chOff x="173355" y="293914"/>
            <a:chExt cx="11548587" cy="560614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B61B9252-9DB0-5997-6557-EE03EB4753A4}"/>
                </a:ext>
              </a:extLst>
            </p:cNvPr>
            <p:cNvSpPr/>
            <p:nvPr/>
          </p:nvSpPr>
          <p:spPr>
            <a:xfrm>
              <a:off x="6182500" y="293915"/>
              <a:ext cx="5539442" cy="5606142"/>
            </a:xfrm>
            <a:prstGeom prst="roundRect">
              <a:avLst/>
            </a:prstGeom>
            <a:solidFill>
              <a:srgbClr val="EEF3EA"/>
            </a:solidFill>
            <a:ln w="17780">
              <a:solidFill>
                <a:srgbClr val="82947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932D8F7-D003-D0DA-F0F1-0565201E6E8E}"/>
                </a:ext>
              </a:extLst>
            </p:cNvPr>
            <p:cNvSpPr txBox="1"/>
            <p:nvPr/>
          </p:nvSpPr>
          <p:spPr>
            <a:xfrm>
              <a:off x="6182498" y="402114"/>
              <a:ext cx="5539443" cy="4921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Stage 2: </a:t>
              </a:r>
              <a:r>
                <a:rPr lang="en-US" altLang="zh-CN"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Culture-Aware</a:t>
              </a:r>
              <a:r>
                <a:rPr lang="zh-CN" altLang="en-US"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Hybrid Adaptive Distillation</a:t>
              </a:r>
            </a:p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CAHAD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F2BDEBE-52E8-71D7-6D54-D8E8F85BFA42}"/>
                </a:ext>
              </a:extLst>
            </p:cNvPr>
            <p:cNvSpPr txBox="1"/>
            <p:nvPr/>
          </p:nvSpPr>
          <p:spPr>
            <a:xfrm>
              <a:off x="8135456" y="1721584"/>
              <a:ext cx="1125666" cy="2154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Student LLM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6528041-2FC6-4266-71AF-BD730287F3D8}"/>
                </a:ext>
              </a:extLst>
            </p:cNvPr>
            <p:cNvSpPr txBox="1"/>
            <p:nvPr/>
          </p:nvSpPr>
          <p:spPr>
            <a:xfrm>
              <a:off x="6260464" y="2358792"/>
              <a:ext cx="1428729" cy="2154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b="1" i="0" dirty="0">
                  <a:solidFill>
                    <a:srgbClr val="627D59"/>
                  </a:solidFill>
                  <a:latin typeface="Times New Roman" panose="02020603050405020304" charset="0"/>
                  <a:cs typeface="Times New Roman" panose="02020603050405020304" charset="0"/>
                </a:rPr>
                <a:t>Adaptive mixer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BFE99633-CC7E-5441-D44C-D9C78C60A132}"/>
                </a:ext>
              </a:extLst>
            </p:cNvPr>
            <p:cNvSpPr txBox="1"/>
            <p:nvPr/>
          </p:nvSpPr>
          <p:spPr>
            <a:xfrm>
              <a:off x="6267924" y="4579900"/>
              <a:ext cx="761989" cy="36932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0" i="0" dirty="0" err="1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Hitrate</a:t>
              </a:r>
              <a:endParaRPr sz="1200" b="0" i="0" dirty="0">
                <a:solidFill>
                  <a:srgbClr val="36363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sz="12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feedback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D4687D1-78A3-BD53-2E33-BBEA6BC9B0C9}"/>
                </a:ext>
              </a:extLst>
            </p:cNvPr>
            <p:cNvSpPr txBox="1"/>
            <p:nvPr/>
          </p:nvSpPr>
          <p:spPr>
            <a:xfrm>
              <a:off x="7977186" y="2357796"/>
              <a:ext cx="1186279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 dirty="0">
                  <a:solidFill>
                    <a:srgbClr val="587E95"/>
                  </a:solidFill>
                  <a:latin typeface="Times New Roman" panose="02020603050405020304" charset="0"/>
                  <a:cs typeface="Times New Roman" panose="02020603050405020304" charset="0"/>
                </a:rPr>
                <a:t>Guide branch</a:t>
              </a:r>
            </a:p>
          </p:txBody>
        </p:sp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8C574ACB-A269-370F-A948-CBFF6B1C757F}"/>
                </a:ext>
              </a:extLst>
            </p:cNvPr>
            <p:cNvSpPr/>
            <p:nvPr/>
          </p:nvSpPr>
          <p:spPr>
            <a:xfrm>
              <a:off x="9423173" y="2246868"/>
              <a:ext cx="1404109" cy="666734"/>
            </a:xfrm>
            <a:prstGeom prst="roundRect">
              <a:avLst/>
            </a:prstGeom>
            <a:solidFill>
              <a:srgbClr val="DBE5E9"/>
            </a:solidFill>
            <a:ln w="12700">
              <a:solidFill>
                <a:srgbClr val="587E9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altLang="zh-CN" sz="16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Online RL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3A25EEF-D43D-BDD5-C310-51D777617AF9}"/>
                </a:ext>
              </a:extLst>
            </p:cNvPr>
            <p:cNvSpPr txBox="1"/>
            <p:nvPr/>
          </p:nvSpPr>
          <p:spPr>
            <a:xfrm>
              <a:off x="7951407" y="2846623"/>
              <a:ext cx="1298845" cy="16157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0" i="0" dirty="0">
                  <a:solidFill>
                    <a:srgbClr val="476171"/>
                  </a:solidFill>
                  <a:latin typeface="Times New Roman" panose="02020603050405020304" charset="0"/>
                  <a:cs typeface="Times New Roman" panose="02020603050405020304" charset="0"/>
                </a:rPr>
                <a:t>Guardian guide signal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8B1310-0696-527E-25B4-54A2252672D7}"/>
                </a:ext>
              </a:extLst>
            </p:cNvPr>
            <p:cNvSpPr txBox="1"/>
            <p:nvPr/>
          </p:nvSpPr>
          <p:spPr>
            <a:xfrm>
              <a:off x="7935026" y="3489395"/>
              <a:ext cx="1253512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 dirty="0">
                  <a:solidFill>
                    <a:srgbClr val="627D59"/>
                  </a:solidFill>
                  <a:latin typeface="Times New Roman" panose="02020603050405020304" charset="0"/>
                  <a:cs typeface="Times New Roman" panose="02020603050405020304" charset="0"/>
                </a:rPr>
                <a:t>Anchor branch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62C9308-9F12-4F35-86A7-958BD48AAE3E}"/>
                </a:ext>
              </a:extLst>
            </p:cNvPr>
            <p:cNvSpPr txBox="1"/>
            <p:nvPr/>
          </p:nvSpPr>
          <p:spPr>
            <a:xfrm>
              <a:off x="7874176" y="3983460"/>
              <a:ext cx="1350798" cy="1538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b="0" i="0" dirty="0">
                  <a:solidFill>
                    <a:srgbClr val="4B6243"/>
                  </a:solidFill>
                  <a:latin typeface="Times New Roman" panose="02020603050405020304" charset="0"/>
                  <a:cs typeface="Times New Roman" panose="02020603050405020304" charset="0"/>
                </a:rPr>
                <a:t>Judge answer</a:t>
              </a: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94108FCA-1136-697B-87DC-F4449D4734A6}"/>
                </a:ext>
              </a:extLst>
            </p:cNvPr>
            <p:cNvSpPr/>
            <p:nvPr/>
          </p:nvSpPr>
          <p:spPr>
            <a:xfrm>
              <a:off x="9423173" y="3484343"/>
              <a:ext cx="1404109" cy="666734"/>
            </a:xfrm>
            <a:prstGeom prst="roundRect">
              <a:avLst/>
            </a:prstGeom>
            <a:solidFill>
              <a:srgbClr val="DDE4D2"/>
            </a:solidFill>
            <a:ln w="12700">
              <a:solidFill>
                <a:srgbClr val="627D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CN" sz="11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Cross-Entropy SFT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A5F2BCB-EE70-1E01-3DDF-58E913B6FF63}"/>
                </a:ext>
              </a:extLst>
            </p:cNvPr>
            <p:cNvSpPr txBox="1"/>
            <p:nvPr/>
          </p:nvSpPr>
          <p:spPr>
            <a:xfrm>
              <a:off x="7014498" y="5209009"/>
              <a:ext cx="1298845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Student response</a:t>
              </a:r>
            </a:p>
          </p:txBody>
        </p:sp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50B1CE10-CF73-BE24-E142-864AAB3EF459}"/>
                </a:ext>
              </a:extLst>
            </p:cNvPr>
            <p:cNvSpPr/>
            <p:nvPr/>
          </p:nvSpPr>
          <p:spPr>
            <a:xfrm>
              <a:off x="9402873" y="5306356"/>
              <a:ext cx="1030417" cy="311720"/>
            </a:xfrm>
            <a:prstGeom prst="roundRect">
              <a:avLst/>
            </a:prstGeom>
            <a:solidFill>
              <a:srgbClr val="E2D5BF"/>
            </a:solidFill>
            <a:ln w="10160">
              <a:solidFill>
                <a:srgbClr val="B1A0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12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Benchmark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D1220563-1718-9EF8-52FD-F8A2E45760D2}"/>
                </a:ext>
              </a:extLst>
            </p:cNvPr>
            <p:cNvSpPr txBox="1"/>
            <p:nvPr/>
          </p:nvSpPr>
          <p:spPr>
            <a:xfrm rot="5400000">
              <a:off x="9789573" y="3215295"/>
              <a:ext cx="3370723" cy="24621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Joint SFT-RL Optimization Loop</a:t>
              </a:r>
            </a:p>
          </p:txBody>
        </p:sp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CA365F25-2A92-19EE-9AEE-FB78F3BD344C}"/>
                </a:ext>
              </a:extLst>
            </p:cNvPr>
            <p:cNvGrpSpPr/>
            <p:nvPr/>
          </p:nvGrpSpPr>
          <p:grpSpPr>
            <a:xfrm>
              <a:off x="7992962" y="4671929"/>
              <a:ext cx="1350798" cy="952111"/>
              <a:chOff x="8226137" y="4909704"/>
              <a:chExt cx="1350818" cy="952133"/>
            </a:xfrm>
          </p:grpSpPr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2AEB6010-AC59-9BE3-772C-B4C15734E56E}"/>
                  </a:ext>
                </a:extLst>
              </p:cNvPr>
              <p:cNvSpPr txBox="1"/>
              <p:nvPr/>
            </p:nvSpPr>
            <p:spPr>
              <a:xfrm>
                <a:off x="8226137" y="5646393"/>
                <a:ext cx="135081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400" b="0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Student</a:t>
                </a:r>
                <a:r>
                  <a:rPr lang="zh-CN" altLang="en-US" sz="1400" b="0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r>
                  <a:rPr sz="1400" b="0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LLM</a:t>
                </a:r>
              </a:p>
            </p:txBody>
          </p:sp>
          <p:pic>
            <p:nvPicPr>
              <p:cNvPr id="177" name="图片 176">
                <a:extLst>
                  <a:ext uri="{FF2B5EF4-FFF2-40B4-BE49-F238E27FC236}">
                    <a16:creationId xmlns:a16="http://schemas.microsoft.com/office/drawing/2014/main" id="{6F00CB97-71FA-6EC5-4AE6-17EAD50B9A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65430" b="85985" l="87868" r="98325"/>
                        </a14:imgEffect>
                      </a14:imgLayer>
                    </a14:imgProps>
                  </a:ext>
                </a:extLst>
              </a:blip>
              <a:srcRect l="86561" t="62861" r="368" b="11446"/>
              <a:stretch>
                <a:fillRect/>
              </a:stretch>
            </p:blipFill>
            <p:spPr>
              <a:xfrm>
                <a:off x="8572500" y="4909704"/>
                <a:ext cx="655182" cy="700771"/>
              </a:xfrm>
              <a:prstGeom prst="rect">
                <a:avLst/>
              </a:prstGeom>
            </p:spPr>
          </p:pic>
        </p:grpSp>
        <p:pic>
          <p:nvPicPr>
            <p:cNvPr id="251" name="图片 250">
              <a:extLst>
                <a:ext uri="{FF2B5EF4-FFF2-40B4-BE49-F238E27FC236}">
                  <a16:creationId xmlns:a16="http://schemas.microsoft.com/office/drawing/2014/main" id="{E42A239D-9653-C00B-554B-521FC826B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5430" b="85985" l="87868" r="98325"/>
                      </a14:imgEffect>
                    </a14:imgLayer>
                  </a14:imgProps>
                </a:ext>
              </a:extLst>
            </a:blip>
            <a:srcRect l="86561" t="62861" r="368" b="11446"/>
            <a:stretch>
              <a:fillRect/>
            </a:stretch>
          </p:blipFill>
          <p:spPr>
            <a:xfrm>
              <a:off x="8353480" y="1077520"/>
              <a:ext cx="655173" cy="700754"/>
            </a:xfrm>
            <a:prstGeom prst="rect">
              <a:avLst/>
            </a:prstGeom>
          </p:spPr>
        </p:pic>
        <p:pic>
          <p:nvPicPr>
            <p:cNvPr id="258" name="图片 257">
              <a:extLst>
                <a:ext uri="{FF2B5EF4-FFF2-40B4-BE49-F238E27FC236}">
                  <a16:creationId xmlns:a16="http://schemas.microsoft.com/office/drawing/2014/main" id="{55AEF0D2-28B1-1EA2-424A-167F4A8A5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6631" y="4759308"/>
              <a:ext cx="528251" cy="528247"/>
            </a:xfrm>
            <a:prstGeom prst="rect">
              <a:avLst/>
            </a:prstGeom>
          </p:spPr>
        </p:pic>
        <p:cxnSp>
          <p:nvCxnSpPr>
            <p:cNvPr id="263" name="肘形连接符 262">
              <a:extLst>
                <a:ext uri="{FF2B5EF4-FFF2-40B4-BE49-F238E27FC236}">
                  <a16:creationId xmlns:a16="http://schemas.microsoft.com/office/drawing/2014/main" id="{F6A67DAD-E375-9FB8-3FC0-0C3B61F1A9C4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 rot="5400000" flipH="1" flipV="1">
              <a:off x="5610799" y="4463461"/>
              <a:ext cx="1975021" cy="506285"/>
            </a:xfrm>
            <a:prstGeom prst="bentConnector2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肘形连接符 264">
              <a:extLst>
                <a:ext uri="{FF2B5EF4-FFF2-40B4-BE49-F238E27FC236}">
                  <a16:creationId xmlns:a16="http://schemas.microsoft.com/office/drawing/2014/main" id="{BEDDC1FC-BF24-EBD6-DF7A-3790B0D3810B}"/>
                </a:ext>
              </a:extLst>
            </p:cNvPr>
            <p:cNvCxnSpPr>
              <a:stCxn id="177" idx="1"/>
              <a:endCxn id="124" idx="4"/>
            </p:cNvCxnSpPr>
            <p:nvPr/>
          </p:nvCxnSpPr>
          <p:spPr>
            <a:xfrm rot="10800000">
              <a:off x="7031449" y="3909089"/>
              <a:ext cx="1307871" cy="1113219"/>
            </a:xfrm>
            <a:prstGeom prst="bentConnector2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肘形连接符 267">
              <a:extLst>
                <a:ext uri="{FF2B5EF4-FFF2-40B4-BE49-F238E27FC236}">
                  <a16:creationId xmlns:a16="http://schemas.microsoft.com/office/drawing/2014/main" id="{86F3B6EB-D2CE-D650-F432-9542F58F82E1}"/>
                </a:ext>
              </a:extLst>
            </p:cNvPr>
            <p:cNvCxnSpPr>
              <a:cxnSpLocks/>
              <a:endCxn id="258" idx="3"/>
            </p:cNvCxnSpPr>
            <p:nvPr/>
          </p:nvCxnSpPr>
          <p:spPr>
            <a:xfrm>
              <a:off x="8888908" y="1438784"/>
              <a:ext cx="1225974" cy="3584649"/>
            </a:xfrm>
            <a:prstGeom prst="bentConnector3">
              <a:avLst>
                <a:gd name="adj1" fmla="val 192008"/>
              </a:avLst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肘形连接符 17">
              <a:extLst>
                <a:ext uri="{FF2B5EF4-FFF2-40B4-BE49-F238E27FC236}">
                  <a16:creationId xmlns:a16="http://schemas.microsoft.com/office/drawing/2014/main" id="{E567E72E-5109-A269-1446-85EB43D2ACB9}"/>
                </a:ext>
              </a:extLst>
            </p:cNvPr>
            <p:cNvCxnSpPr>
              <a:cxnSpLocks/>
              <a:stCxn id="258" idx="1"/>
              <a:endCxn id="177" idx="3"/>
            </p:cNvCxnSpPr>
            <p:nvPr/>
          </p:nvCxnSpPr>
          <p:spPr>
            <a:xfrm rot="10800000">
              <a:off x="8994493" y="5022308"/>
              <a:ext cx="592139" cy="1125"/>
            </a:xfrm>
            <a:prstGeom prst="bentConnector3">
              <a:avLst>
                <a:gd name="adj1" fmla="val 50000"/>
              </a:avLst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斜纹 21">
              <a:extLst>
                <a:ext uri="{FF2B5EF4-FFF2-40B4-BE49-F238E27FC236}">
                  <a16:creationId xmlns:a16="http://schemas.microsoft.com/office/drawing/2014/main" id="{B8265D01-33FC-710D-A431-CA001836C5F5}"/>
                </a:ext>
              </a:extLst>
            </p:cNvPr>
            <p:cNvSpPr/>
            <p:nvPr/>
          </p:nvSpPr>
          <p:spPr>
            <a:xfrm rot="7068015" flipV="1">
              <a:off x="7203686" y="2820065"/>
              <a:ext cx="935288" cy="365840"/>
            </a:xfrm>
            <a:prstGeom prst="diagStripe">
              <a:avLst/>
            </a:prstGeom>
            <a:solidFill>
              <a:srgbClr val="ABBECC"/>
            </a:solidFill>
            <a:ln>
              <a:solidFill>
                <a:srgbClr val="587E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4" name="Right Arrow 133">
              <a:extLst>
                <a:ext uri="{FF2B5EF4-FFF2-40B4-BE49-F238E27FC236}">
                  <a16:creationId xmlns:a16="http://schemas.microsoft.com/office/drawing/2014/main" id="{D831E95F-02D1-33B2-AE7A-E28A2D01DC70}"/>
                </a:ext>
              </a:extLst>
            </p:cNvPr>
            <p:cNvSpPr/>
            <p:nvPr/>
          </p:nvSpPr>
          <p:spPr>
            <a:xfrm>
              <a:off x="7861719" y="2480658"/>
              <a:ext cx="1561453" cy="432944"/>
            </a:xfrm>
            <a:prstGeom prst="rightArrow">
              <a:avLst/>
            </a:prstGeom>
            <a:solidFill>
              <a:srgbClr val="AABECC"/>
            </a:solidFill>
            <a:ln w="10160">
              <a:solidFill>
                <a:srgbClr val="587E9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F814879-4CA3-1A5A-2AB5-2260CC0D63CB}"/>
                </a:ext>
              </a:extLst>
            </p:cNvPr>
            <p:cNvSpPr/>
            <p:nvPr/>
          </p:nvSpPr>
          <p:spPr>
            <a:xfrm rot="3021261">
              <a:off x="7225925" y="3485720"/>
              <a:ext cx="845132" cy="153458"/>
            </a:xfrm>
            <a:prstGeom prst="rect">
              <a:avLst/>
            </a:prstGeom>
            <a:solidFill>
              <a:srgbClr val="C0CEB6"/>
            </a:solidFill>
            <a:ln>
              <a:solidFill>
                <a:srgbClr val="617D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C8CF0873-5C80-32BD-AD39-1C54F3F99D1C}"/>
                </a:ext>
              </a:extLst>
            </p:cNvPr>
            <p:cNvSpPr/>
            <p:nvPr/>
          </p:nvSpPr>
          <p:spPr>
            <a:xfrm>
              <a:off x="7861719" y="3604332"/>
              <a:ext cx="1561453" cy="432944"/>
            </a:xfrm>
            <a:prstGeom prst="rightArrow">
              <a:avLst/>
            </a:prstGeom>
            <a:solidFill>
              <a:srgbClr val="C0CDB6"/>
            </a:solidFill>
            <a:ln w="10160">
              <a:solidFill>
                <a:srgbClr val="627D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6" name="肘形连接符 25">
              <a:extLst>
                <a:ext uri="{FF2B5EF4-FFF2-40B4-BE49-F238E27FC236}">
                  <a16:creationId xmlns:a16="http://schemas.microsoft.com/office/drawing/2014/main" id="{CD0B2F7D-8BBD-C387-1E65-F8C186F7B093}"/>
                </a:ext>
              </a:extLst>
            </p:cNvPr>
            <p:cNvCxnSpPr>
              <a:endCxn id="141" idx="3"/>
            </p:cNvCxnSpPr>
            <p:nvPr/>
          </p:nvCxnSpPr>
          <p:spPr>
            <a:xfrm flipH="1" flipV="1">
              <a:off x="10827281" y="3817710"/>
              <a:ext cx="434535" cy="2"/>
            </a:xfrm>
            <a:prstGeom prst="straightConnector1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肘形连接符 25">
              <a:extLst>
                <a:ext uri="{FF2B5EF4-FFF2-40B4-BE49-F238E27FC236}">
                  <a16:creationId xmlns:a16="http://schemas.microsoft.com/office/drawing/2014/main" id="{743451CE-2DF2-FE97-760A-95647177351E}"/>
                </a:ext>
              </a:extLst>
            </p:cNvPr>
            <p:cNvCxnSpPr>
              <a:endCxn id="136" idx="3"/>
            </p:cNvCxnSpPr>
            <p:nvPr/>
          </p:nvCxnSpPr>
          <p:spPr>
            <a:xfrm flipH="1">
              <a:off x="10827281" y="2580236"/>
              <a:ext cx="434535" cy="0"/>
            </a:xfrm>
            <a:prstGeom prst="straightConnector1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9" name="组合 258">
              <a:extLst>
                <a:ext uri="{FF2B5EF4-FFF2-40B4-BE49-F238E27FC236}">
                  <a16:creationId xmlns:a16="http://schemas.microsoft.com/office/drawing/2014/main" id="{DA71E9AB-EE93-421C-4E10-5E2020DAA8C1}"/>
                </a:ext>
              </a:extLst>
            </p:cNvPr>
            <p:cNvGrpSpPr/>
            <p:nvPr/>
          </p:nvGrpSpPr>
          <p:grpSpPr>
            <a:xfrm>
              <a:off x="6851452" y="3471885"/>
              <a:ext cx="359995" cy="437203"/>
              <a:chOff x="7184119" y="3030681"/>
              <a:chExt cx="360000" cy="437213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9D97AB9-CD94-4A2D-3A38-D230D22C69A6}"/>
                  </a:ext>
                </a:extLst>
              </p:cNvPr>
              <p:cNvSpPr/>
              <p:nvPr/>
            </p:nvSpPr>
            <p:spPr>
              <a:xfrm>
                <a:off x="7299614" y="3030681"/>
                <a:ext cx="121227" cy="242455"/>
              </a:xfrm>
              <a:prstGeom prst="rect">
                <a:avLst/>
              </a:prstGeom>
              <a:solidFill>
                <a:srgbClr val="B2C6C6"/>
              </a:solidFill>
              <a:ln w="1016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585B0CB8-6EB1-95FB-59EF-60F70F62A70B}"/>
                  </a:ext>
                </a:extLst>
              </p:cNvPr>
              <p:cNvSpPr/>
              <p:nvPr/>
            </p:nvSpPr>
            <p:spPr>
              <a:xfrm>
                <a:off x="7184119" y="3107894"/>
                <a:ext cx="360000" cy="360000"/>
              </a:xfrm>
              <a:prstGeom prst="ellipse">
                <a:avLst/>
              </a:prstGeom>
              <a:solidFill>
                <a:srgbClr val="D6E4CE"/>
              </a:solidFill>
              <a:ln w="11430">
                <a:solidFill>
                  <a:srgbClr val="6A845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E7E81B26-20F2-F1FB-B467-696AFF247FEC}"/>
                </a:ext>
              </a:extLst>
            </p:cNvPr>
            <p:cNvSpPr/>
            <p:nvPr/>
          </p:nvSpPr>
          <p:spPr>
            <a:xfrm>
              <a:off x="173357" y="293914"/>
              <a:ext cx="5905414" cy="5606143"/>
            </a:xfrm>
            <a:prstGeom prst="roundRect">
              <a:avLst/>
            </a:prstGeom>
            <a:solidFill>
              <a:srgbClr val="EAEFF3"/>
            </a:solidFill>
            <a:ln w="1778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BA606AD-11C5-4FFF-33DC-220EC61E687A}"/>
                </a:ext>
              </a:extLst>
            </p:cNvPr>
            <p:cNvSpPr txBox="1"/>
            <p:nvPr/>
          </p:nvSpPr>
          <p:spPr>
            <a:xfrm>
              <a:off x="173355" y="388076"/>
              <a:ext cx="5905414" cy="4921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Stage 1: </a:t>
              </a:r>
              <a:r>
                <a:rPr lang="en-US"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Home-Field Culture-Authority Collaboration</a:t>
              </a:r>
            </a:p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HF-CAC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7D64D5A-0673-E2D7-859D-2458921130BD}"/>
                </a:ext>
              </a:extLst>
            </p:cNvPr>
            <p:cNvSpPr/>
            <p:nvPr/>
          </p:nvSpPr>
          <p:spPr>
            <a:xfrm>
              <a:off x="303241" y="818152"/>
              <a:ext cx="2649643" cy="3706003"/>
            </a:xfrm>
            <a:prstGeom prst="roundRect">
              <a:avLst/>
            </a:prstGeom>
            <a:solidFill>
              <a:srgbClr val="E2E9EF"/>
            </a:solidFill>
            <a:ln w="1270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7A6E29F5-D35D-D65A-E39D-CED3DAE4E4AA}"/>
                </a:ext>
              </a:extLst>
            </p:cNvPr>
            <p:cNvSpPr/>
            <p:nvPr/>
          </p:nvSpPr>
          <p:spPr>
            <a:xfrm>
              <a:off x="3152039" y="818151"/>
              <a:ext cx="2814165" cy="2709329"/>
            </a:xfrm>
            <a:prstGeom prst="roundRect">
              <a:avLst/>
            </a:prstGeom>
            <a:solidFill>
              <a:srgbClr val="EDE5DE"/>
            </a:solidFill>
            <a:ln w="1270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7F27A1C-C1E3-AD85-AA29-0B03D0D47D59}"/>
                </a:ext>
              </a:extLst>
            </p:cNvPr>
            <p:cNvSpPr/>
            <p:nvPr/>
          </p:nvSpPr>
          <p:spPr>
            <a:xfrm>
              <a:off x="3186677" y="3700473"/>
              <a:ext cx="2779527" cy="1894907"/>
            </a:xfrm>
            <a:prstGeom prst="roundRect">
              <a:avLst/>
            </a:prstGeom>
            <a:solidFill>
              <a:srgbClr val="E6E2EC"/>
            </a:solidFill>
            <a:ln w="1270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36A75D-9665-DE2A-98E9-9E6977168F52}"/>
                </a:ext>
              </a:extLst>
            </p:cNvPr>
            <p:cNvSpPr txBox="1"/>
            <p:nvPr/>
          </p:nvSpPr>
          <p:spPr>
            <a:xfrm>
              <a:off x="295889" y="828202"/>
              <a:ext cx="2649641" cy="24621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Phase 1:</a:t>
              </a:r>
              <a:r>
                <a:rPr lang="zh-CN" altLang="en-US" sz="1600" b="1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Initialization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1A42EAF-0E32-BCAF-ABAC-CCFD74D8397E}"/>
                </a:ext>
              </a:extLst>
            </p:cNvPr>
            <p:cNvSpPr txBox="1"/>
            <p:nvPr/>
          </p:nvSpPr>
          <p:spPr>
            <a:xfrm>
              <a:off x="3197999" y="820600"/>
              <a:ext cx="2779527" cy="24621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Phase 2:</a:t>
              </a:r>
              <a:r>
                <a:rPr lang="zh-CN" altLang="en-US"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Cultural Debate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6E0EB7-D5B2-0D57-4C75-4F6BE4AF5198}"/>
                </a:ext>
              </a:extLst>
            </p:cNvPr>
            <p:cNvSpPr txBox="1"/>
            <p:nvPr/>
          </p:nvSpPr>
          <p:spPr>
            <a:xfrm>
              <a:off x="3198000" y="3717973"/>
              <a:ext cx="2779527" cy="24621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Phase 3: Judge</a:t>
              </a:r>
            </a:p>
          </p:txBody>
        </p:sp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329582A8-892F-4231-5D4F-A202DD3F1F3A}"/>
                </a:ext>
              </a:extLst>
            </p:cNvPr>
            <p:cNvGrpSpPr/>
            <p:nvPr/>
          </p:nvGrpSpPr>
          <p:grpSpPr>
            <a:xfrm>
              <a:off x="778544" y="4599359"/>
              <a:ext cx="1310936" cy="710028"/>
              <a:chOff x="406977" y="4485408"/>
              <a:chExt cx="1310955" cy="710045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DD9006C-95A6-72B1-EF6F-48989033C24A}"/>
                  </a:ext>
                </a:extLst>
              </p:cNvPr>
              <p:cNvSpPr/>
              <p:nvPr/>
            </p:nvSpPr>
            <p:spPr>
              <a:xfrm>
                <a:off x="406977" y="4485408"/>
                <a:ext cx="1310955" cy="710045"/>
              </a:xfrm>
              <a:prstGeom prst="roundRect">
                <a:avLst/>
              </a:prstGeom>
              <a:solidFill>
                <a:srgbClr val="F0E9DB"/>
              </a:solidFill>
              <a:ln w="12700">
                <a:solidFill>
                  <a:srgbClr val="B1A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FDC246-AA89-3BDA-96A7-5AF28B8EC463}"/>
                  </a:ext>
                </a:extLst>
              </p:cNvPr>
              <p:cNvSpPr txBox="1"/>
              <p:nvPr/>
            </p:nvSpPr>
            <p:spPr>
              <a:xfrm>
                <a:off x="493568" y="4531622"/>
                <a:ext cx="88322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200" b="1" i="0" dirty="0">
                    <a:solidFill>
                      <a:srgbClr val="78633E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Input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89CBDE71-DB79-5A80-CB0A-F4DD2558369B}"/>
                  </a:ext>
                </a:extLst>
              </p:cNvPr>
              <p:cNvSpPr/>
              <p:nvPr/>
            </p:nvSpPr>
            <p:spPr>
              <a:xfrm>
                <a:off x="502227" y="4719204"/>
                <a:ext cx="865909" cy="173182"/>
              </a:xfrm>
              <a:prstGeom prst="roundRect">
                <a:avLst/>
              </a:prstGeom>
              <a:solidFill>
                <a:srgbClr val="F8F6F1"/>
              </a:solidFill>
              <a:ln w="8890">
                <a:solidFill>
                  <a:srgbClr val="B1A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91B67E-28A4-BEBD-199F-64826C71AAAA}"/>
                  </a:ext>
                </a:extLst>
              </p:cNvPr>
              <p:cNvSpPr txBox="1"/>
              <p:nvPr/>
            </p:nvSpPr>
            <p:spPr>
              <a:xfrm>
                <a:off x="571500" y="4716345"/>
                <a:ext cx="727364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050" b="0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Question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35D79726-DC52-AD98-8F38-A571DE0AC857}"/>
                  </a:ext>
                </a:extLst>
              </p:cNvPr>
              <p:cNvSpPr/>
              <p:nvPr/>
            </p:nvSpPr>
            <p:spPr>
              <a:xfrm>
                <a:off x="502227" y="4935681"/>
                <a:ext cx="1133461" cy="173182"/>
              </a:xfrm>
              <a:prstGeom prst="roundRect">
                <a:avLst/>
              </a:prstGeom>
              <a:solidFill>
                <a:srgbClr val="F8F6F1"/>
              </a:solidFill>
              <a:ln w="8890">
                <a:solidFill>
                  <a:srgbClr val="B1A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7CEB6A-2771-9984-972A-ADE32BF27EE2}"/>
                  </a:ext>
                </a:extLst>
              </p:cNvPr>
              <p:cNvSpPr txBox="1"/>
              <p:nvPr/>
            </p:nvSpPr>
            <p:spPr>
              <a:xfrm>
                <a:off x="571500" y="4937151"/>
                <a:ext cx="909206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050" b="0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Country = </a:t>
                </a:r>
                <a:r>
                  <a:rPr lang="en-US" altLang="zh-CN" sz="105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China</a:t>
                </a:r>
                <a:endParaRPr sz="105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21" name="Connector 20">
              <a:extLst>
                <a:ext uri="{FF2B5EF4-FFF2-40B4-BE49-F238E27FC236}">
                  <a16:creationId xmlns:a16="http://schemas.microsoft.com/office/drawing/2014/main" id="{678C074A-3A78-CBEE-9F50-40C000247182}"/>
                </a:ext>
              </a:extLst>
            </p:cNvPr>
            <p:cNvCxnSpPr>
              <a:cxnSpLocks/>
              <a:stCxn id="16" idx="1"/>
              <a:endCxn id="175" idx="0"/>
            </p:cNvCxnSpPr>
            <p:nvPr/>
          </p:nvCxnSpPr>
          <p:spPr>
            <a:xfrm rot="10800000" flipH="1">
              <a:off x="873793" y="1350324"/>
              <a:ext cx="777142" cy="3785886"/>
            </a:xfrm>
            <a:prstGeom prst="bentConnector4">
              <a:avLst>
                <a:gd name="adj1" fmla="val -54628"/>
                <a:gd name="adj2" fmla="val 106038"/>
              </a:avLst>
            </a:prstGeom>
            <a:ln w="35560">
              <a:solidFill>
                <a:srgbClr val="7B8C9D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A1EA64FE-DB0E-776D-E862-6BE7D804F9D0}"/>
                </a:ext>
              </a:extLst>
            </p:cNvPr>
            <p:cNvGrpSpPr/>
            <p:nvPr/>
          </p:nvGrpSpPr>
          <p:grpSpPr>
            <a:xfrm>
              <a:off x="3257797" y="1215574"/>
              <a:ext cx="938839" cy="563081"/>
              <a:chOff x="3840965" y="1269405"/>
              <a:chExt cx="938852" cy="563094"/>
            </a:xfrm>
          </p:grpSpPr>
          <p:sp>
            <p:nvSpPr>
              <p:cNvPr id="53" name="Cloud Callout 52">
                <a:extLst>
                  <a:ext uri="{FF2B5EF4-FFF2-40B4-BE49-F238E27FC236}">
                    <a16:creationId xmlns:a16="http://schemas.microsoft.com/office/drawing/2014/main" id="{7CDAC960-46B8-82CA-1BC3-E14FD67A9E1F}"/>
                  </a:ext>
                </a:extLst>
              </p:cNvPr>
              <p:cNvSpPr/>
              <p:nvPr/>
            </p:nvSpPr>
            <p:spPr>
              <a:xfrm>
                <a:off x="3840965" y="1269405"/>
                <a:ext cx="938852" cy="563094"/>
              </a:xfrm>
              <a:prstGeom prst="cloudCallout">
                <a:avLst>
                  <a:gd name="adj1" fmla="val 47539"/>
                  <a:gd name="adj2" fmla="val 49267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86801E4-17EF-F50F-2754-97D70F9C939E}"/>
                  </a:ext>
                </a:extLst>
              </p:cNvPr>
              <p:cNvSpPr txBox="1"/>
              <p:nvPr/>
            </p:nvSpPr>
            <p:spPr>
              <a:xfrm>
                <a:off x="3896591" y="1359542"/>
                <a:ext cx="831273" cy="4155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sz="900" b="1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Authoritative</a:t>
                </a:r>
              </a:p>
              <a:p>
                <a:pPr algn="ctr"/>
                <a:r>
                  <a:rPr lang="en" sz="900" b="1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Cultural</a:t>
                </a:r>
              </a:p>
              <a:p>
                <a:pPr algn="ctr"/>
                <a:r>
                  <a:rPr lang="en" sz="900" b="1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Perspective</a:t>
                </a:r>
              </a:p>
            </p:txBody>
          </p:sp>
        </p:grpSp>
        <p:sp>
          <p:nvSpPr>
            <p:cNvPr id="79" name="Right Arrow 78">
              <a:extLst>
                <a:ext uri="{FF2B5EF4-FFF2-40B4-BE49-F238E27FC236}">
                  <a16:creationId xmlns:a16="http://schemas.microsoft.com/office/drawing/2014/main" id="{7C951284-CBE4-4EA3-298D-4D3D04C49970}"/>
                </a:ext>
              </a:extLst>
            </p:cNvPr>
            <p:cNvSpPr/>
            <p:nvPr/>
          </p:nvSpPr>
          <p:spPr>
            <a:xfrm>
              <a:off x="2915772" y="2272845"/>
              <a:ext cx="329040" cy="259767"/>
            </a:xfrm>
            <a:prstGeom prst="rightArrow">
              <a:avLst/>
            </a:prstGeom>
            <a:solidFill>
              <a:srgbClr val="587E95"/>
            </a:solidFill>
            <a:ln w="8890">
              <a:solidFill>
                <a:srgbClr val="587E9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0" name="Down Arrow 79">
              <a:extLst>
                <a:ext uri="{FF2B5EF4-FFF2-40B4-BE49-F238E27FC236}">
                  <a16:creationId xmlns:a16="http://schemas.microsoft.com/office/drawing/2014/main" id="{61AC1257-BCE4-BC04-D81F-7FF9F3944C58}"/>
                </a:ext>
              </a:extLst>
            </p:cNvPr>
            <p:cNvSpPr/>
            <p:nvPr/>
          </p:nvSpPr>
          <p:spPr>
            <a:xfrm>
              <a:off x="4476862" y="3462866"/>
              <a:ext cx="190497" cy="303061"/>
            </a:xfrm>
            <a:prstGeom prst="downArrow">
              <a:avLst/>
            </a:prstGeom>
            <a:solidFill>
              <a:srgbClr val="7992B5"/>
            </a:solidFill>
            <a:ln w="8890">
              <a:solidFill>
                <a:srgbClr val="7992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C1EEECA-77A2-013A-4DB3-8213F2FF3E94}"/>
                </a:ext>
              </a:extLst>
            </p:cNvPr>
            <p:cNvSpPr txBox="1"/>
            <p:nvPr/>
          </p:nvSpPr>
          <p:spPr>
            <a:xfrm>
              <a:off x="3993886" y="5266624"/>
              <a:ext cx="1558613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Cultural Affinity Matrix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89D101B-BA90-C9B5-AAF1-C20B5C1AE471}"/>
                </a:ext>
              </a:extLst>
            </p:cNvPr>
            <p:cNvSpPr txBox="1"/>
            <p:nvPr/>
          </p:nvSpPr>
          <p:spPr>
            <a:xfrm>
              <a:off x="4696129" y="5385961"/>
              <a:ext cx="1132411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2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Judge</a:t>
              </a:r>
              <a:r>
                <a:rPr lang="zh-CN" altLang="en-US" sz="120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sz="12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answer</a:t>
              </a:r>
            </a:p>
          </p:txBody>
        </p:sp>
        <p:cxnSp>
          <p:nvCxnSpPr>
            <p:cNvPr id="186" name="曲线连接符 185">
              <a:extLst>
                <a:ext uri="{FF2B5EF4-FFF2-40B4-BE49-F238E27FC236}">
                  <a16:creationId xmlns:a16="http://schemas.microsoft.com/office/drawing/2014/main" id="{97BF62FE-02B3-D944-1D88-2B0A21BAEC96}"/>
                </a:ext>
              </a:extLst>
            </p:cNvPr>
            <p:cNvCxnSpPr>
              <a:stCxn id="175" idx="1"/>
              <a:endCxn id="173" idx="0"/>
            </p:cNvCxnSpPr>
            <p:nvPr/>
          </p:nvCxnSpPr>
          <p:spPr>
            <a:xfrm rot="10800000" flipV="1">
              <a:off x="844691" y="1704967"/>
              <a:ext cx="529981" cy="320632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曲线连接符 186">
              <a:extLst>
                <a:ext uri="{FF2B5EF4-FFF2-40B4-BE49-F238E27FC236}">
                  <a16:creationId xmlns:a16="http://schemas.microsoft.com/office/drawing/2014/main" id="{B8E3AA28-6483-C313-258A-AB2AC6F72BE1}"/>
                </a:ext>
              </a:extLst>
            </p:cNvPr>
            <p:cNvCxnSpPr>
              <a:stCxn id="178" idx="1"/>
              <a:endCxn id="174" idx="2"/>
            </p:cNvCxnSpPr>
            <p:nvPr/>
          </p:nvCxnSpPr>
          <p:spPr>
            <a:xfrm rot="10800000">
              <a:off x="856441" y="3757884"/>
              <a:ext cx="527599" cy="206705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曲线连接符 187">
              <a:extLst>
                <a:ext uri="{FF2B5EF4-FFF2-40B4-BE49-F238E27FC236}">
                  <a16:creationId xmlns:a16="http://schemas.microsoft.com/office/drawing/2014/main" id="{9315D56F-41BC-40E4-D11B-8C2BDDFF6479}"/>
                </a:ext>
              </a:extLst>
            </p:cNvPr>
            <p:cNvCxnSpPr>
              <a:stCxn id="180" idx="0"/>
              <a:endCxn id="181" idx="2"/>
            </p:cNvCxnSpPr>
            <p:nvPr/>
          </p:nvCxnSpPr>
          <p:spPr>
            <a:xfrm rot="16200000" flipV="1">
              <a:off x="2294653" y="2844795"/>
              <a:ext cx="281397" cy="3656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曲线连接符 188">
              <a:extLst>
                <a:ext uri="{FF2B5EF4-FFF2-40B4-BE49-F238E27FC236}">
                  <a16:creationId xmlns:a16="http://schemas.microsoft.com/office/drawing/2014/main" id="{E9B8FA40-BC9D-DDC2-5315-C5727A8C7CC6}"/>
                </a:ext>
              </a:extLst>
            </p:cNvPr>
            <p:cNvCxnSpPr>
              <a:stCxn id="181" idx="0"/>
              <a:endCxn id="175" idx="3"/>
            </p:cNvCxnSpPr>
            <p:nvPr/>
          </p:nvCxnSpPr>
          <p:spPr>
            <a:xfrm rot="16200000" flipV="1">
              <a:off x="2054285" y="1577882"/>
              <a:ext cx="252155" cy="506325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曲线连接符 195">
              <a:extLst>
                <a:ext uri="{FF2B5EF4-FFF2-40B4-BE49-F238E27FC236}">
                  <a16:creationId xmlns:a16="http://schemas.microsoft.com/office/drawing/2014/main" id="{68B95511-4708-D1FE-E0C4-06D91D2F26B8}"/>
                </a:ext>
              </a:extLst>
            </p:cNvPr>
            <p:cNvCxnSpPr>
              <a:endCxn id="174" idx="0"/>
            </p:cNvCxnSpPr>
            <p:nvPr/>
          </p:nvCxnSpPr>
          <p:spPr>
            <a:xfrm rot="5400000">
              <a:off x="771908" y="2933890"/>
              <a:ext cx="169067" cy="1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曲线连接符 196">
              <a:extLst>
                <a:ext uri="{FF2B5EF4-FFF2-40B4-BE49-F238E27FC236}">
                  <a16:creationId xmlns:a16="http://schemas.microsoft.com/office/drawing/2014/main" id="{C201DFEA-ECB7-CA44-DDB4-F8FBBC2372E2}"/>
                </a:ext>
              </a:extLst>
            </p:cNvPr>
            <p:cNvCxnSpPr>
              <a:stCxn id="178" idx="3"/>
              <a:endCxn id="180" idx="2"/>
            </p:cNvCxnSpPr>
            <p:nvPr/>
          </p:nvCxnSpPr>
          <p:spPr>
            <a:xfrm flipV="1">
              <a:off x="1969944" y="3727904"/>
              <a:ext cx="467236" cy="236684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8" name="图片 207">
              <a:extLst>
                <a:ext uri="{FF2B5EF4-FFF2-40B4-BE49-F238E27FC236}">
                  <a16:creationId xmlns:a16="http://schemas.microsoft.com/office/drawing/2014/main" id="{31508452-2E36-B38D-BCC9-B3445C4DF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1816" b="39497" l="7889" r="20199"/>
                      </a14:imgEffect>
                    </a14:imgLayer>
                  </a14:imgProps>
                </a:ext>
              </a:extLst>
            </a:blip>
            <a:srcRect l="6350" t="8356" r="78262" b="57043"/>
            <a:stretch>
              <a:fillRect/>
            </a:stretch>
          </p:blipFill>
          <p:spPr>
            <a:xfrm>
              <a:off x="3209880" y="2175701"/>
              <a:ext cx="563004" cy="688849"/>
            </a:xfrm>
            <a:prstGeom prst="rect">
              <a:avLst/>
            </a:prstGeom>
          </p:spPr>
        </p:pic>
        <p:pic>
          <p:nvPicPr>
            <p:cNvPr id="209" name="图片 208">
              <a:extLst>
                <a:ext uri="{FF2B5EF4-FFF2-40B4-BE49-F238E27FC236}">
                  <a16:creationId xmlns:a16="http://schemas.microsoft.com/office/drawing/2014/main" id="{EFE1D7F4-129A-D3D9-28CC-97739CFC6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60513" b="83445" l="19218" r="28131">
                          <a14:foregroundMark x1="22359" y1="61835" x2="26773" y2="62633"/>
                        </a14:backgroundRemoval>
                      </a14:imgEffect>
                    </a14:imgLayer>
                  </a14:imgProps>
                </a:ext>
              </a:extLst>
            </a:blip>
            <a:srcRect l="18104" t="57647" r="70755" b="13689"/>
            <a:stretch>
              <a:fillRect/>
            </a:stretch>
          </p:blipFill>
          <p:spPr>
            <a:xfrm>
              <a:off x="3843835" y="2795012"/>
              <a:ext cx="528190" cy="739460"/>
            </a:xfrm>
            <a:prstGeom prst="rect">
              <a:avLst/>
            </a:prstGeom>
          </p:spPr>
        </p:pic>
        <p:pic>
          <p:nvPicPr>
            <p:cNvPr id="211" name="图片 210">
              <a:extLst>
                <a:ext uri="{FF2B5EF4-FFF2-40B4-BE49-F238E27FC236}">
                  <a16:creationId xmlns:a16="http://schemas.microsoft.com/office/drawing/2014/main" id="{C4F4D747-1D45-CAF1-CB07-A0BADD0DA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5285" b="39434" l="59270" r="69252"/>
                      </a14:imgEffect>
                    </a14:imgLayer>
                  </a14:imgProps>
                </a:ext>
              </a:extLst>
            </a:blip>
            <a:srcRect l="58022" t="12267" r="29500" b="57547"/>
            <a:stretch>
              <a:fillRect/>
            </a:stretch>
          </p:blipFill>
          <p:spPr>
            <a:xfrm>
              <a:off x="4580226" y="2799591"/>
              <a:ext cx="562832" cy="740885"/>
            </a:xfrm>
            <a:prstGeom prst="rect">
              <a:avLst/>
            </a:prstGeom>
          </p:spPr>
        </p:pic>
        <p:pic>
          <p:nvPicPr>
            <p:cNvPr id="212" name="图片 211">
              <a:extLst>
                <a:ext uri="{FF2B5EF4-FFF2-40B4-BE49-F238E27FC236}">
                  <a16:creationId xmlns:a16="http://schemas.microsoft.com/office/drawing/2014/main" id="{B76BB447-A219-B118-4C2F-FA1A3D6D5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6417" b="40173" l="89055" r="98158"/>
                      </a14:imgEffect>
                    </a14:imgLayer>
                  </a14:imgProps>
                </a:ext>
              </a:extLst>
            </a:blip>
            <a:srcRect l="87917" t="13447" r="704" b="56857"/>
            <a:stretch>
              <a:fillRect/>
            </a:stretch>
          </p:blipFill>
          <p:spPr>
            <a:xfrm>
              <a:off x="5420993" y="2371020"/>
              <a:ext cx="521540" cy="740583"/>
            </a:xfrm>
            <a:prstGeom prst="rect">
              <a:avLst/>
            </a:prstGeom>
          </p:spPr>
        </p:pic>
        <p:pic>
          <p:nvPicPr>
            <p:cNvPr id="213" name="图片 212">
              <a:extLst>
                <a:ext uri="{FF2B5EF4-FFF2-40B4-BE49-F238E27FC236}">
                  <a16:creationId xmlns:a16="http://schemas.microsoft.com/office/drawing/2014/main" id="{DDE3F535-2FE2-3291-1C5A-0185C0ED0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6909" b="40658" l="46413" r="56395"/>
                      </a14:imgEffect>
                    </a14:imgLayer>
                  </a14:imgProps>
                </a:ext>
              </a:extLst>
            </a:blip>
            <a:srcRect l="45165" t="13940" r="42357" b="56373"/>
            <a:stretch>
              <a:fillRect/>
            </a:stretch>
          </p:blipFill>
          <p:spPr>
            <a:xfrm>
              <a:off x="5394708" y="1453420"/>
              <a:ext cx="578391" cy="748802"/>
            </a:xfrm>
            <a:prstGeom prst="rect">
              <a:avLst/>
            </a:prstGeom>
          </p:spPr>
        </p:pic>
        <p:cxnSp>
          <p:nvCxnSpPr>
            <p:cNvPr id="229" name="曲线连接符 228">
              <a:extLst>
                <a:ext uri="{FF2B5EF4-FFF2-40B4-BE49-F238E27FC236}">
                  <a16:creationId xmlns:a16="http://schemas.microsoft.com/office/drawing/2014/main" id="{FC8B2B30-F2E0-7177-1686-526D0911C6C8}"/>
                </a:ext>
              </a:extLst>
            </p:cNvPr>
            <p:cNvCxnSpPr>
              <a:stCxn id="208" idx="2"/>
              <a:endCxn id="209" idx="1"/>
            </p:cNvCxnSpPr>
            <p:nvPr/>
          </p:nvCxnSpPr>
          <p:spPr>
            <a:xfrm rot="16200000" flipH="1">
              <a:off x="3517512" y="2838419"/>
              <a:ext cx="300192" cy="352453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曲线连接符 231">
              <a:extLst>
                <a:ext uri="{FF2B5EF4-FFF2-40B4-BE49-F238E27FC236}">
                  <a16:creationId xmlns:a16="http://schemas.microsoft.com/office/drawing/2014/main" id="{410BDE03-3ABD-0E11-DE50-64DD310A691F}"/>
                </a:ext>
              </a:extLst>
            </p:cNvPr>
            <p:cNvCxnSpPr>
              <a:cxnSpLocks/>
              <a:stCxn id="212" idx="0"/>
              <a:endCxn id="213" idx="2"/>
            </p:cNvCxnSpPr>
            <p:nvPr/>
          </p:nvCxnSpPr>
          <p:spPr>
            <a:xfrm rot="5400000" flipH="1" flipV="1">
              <a:off x="5598434" y="2285551"/>
              <a:ext cx="168798" cy="2141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曲线连接符 234">
              <a:extLst>
                <a:ext uri="{FF2B5EF4-FFF2-40B4-BE49-F238E27FC236}">
                  <a16:creationId xmlns:a16="http://schemas.microsoft.com/office/drawing/2014/main" id="{2EA0123F-5D9D-F084-963A-19C49930D20A}"/>
                </a:ext>
              </a:extLst>
            </p:cNvPr>
            <p:cNvCxnSpPr>
              <a:stCxn id="211" idx="1"/>
              <a:endCxn id="209" idx="3"/>
            </p:cNvCxnSpPr>
            <p:nvPr/>
          </p:nvCxnSpPr>
          <p:spPr>
            <a:xfrm rot="10800000">
              <a:off x="4372026" y="3164742"/>
              <a:ext cx="208201" cy="5292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曲线连接符 235">
              <a:extLst>
                <a:ext uri="{FF2B5EF4-FFF2-40B4-BE49-F238E27FC236}">
                  <a16:creationId xmlns:a16="http://schemas.microsoft.com/office/drawing/2014/main" id="{49DABC31-A0E5-7A77-2CDA-5057A748D879}"/>
                </a:ext>
              </a:extLst>
            </p:cNvPr>
            <p:cNvCxnSpPr>
              <a:stCxn id="212" idx="2"/>
              <a:endCxn id="211" idx="3"/>
            </p:cNvCxnSpPr>
            <p:nvPr/>
          </p:nvCxnSpPr>
          <p:spPr>
            <a:xfrm rot="5400000">
              <a:off x="5383196" y="2871466"/>
              <a:ext cx="58431" cy="538705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9BAD3CAF-8BB7-5651-1687-74BAE3C81C91}"/>
                </a:ext>
              </a:extLst>
            </p:cNvPr>
            <p:cNvGrpSpPr/>
            <p:nvPr/>
          </p:nvGrpSpPr>
          <p:grpSpPr>
            <a:xfrm>
              <a:off x="1196839" y="3578961"/>
              <a:ext cx="952742" cy="914866"/>
              <a:chOff x="1040637" y="3097190"/>
              <a:chExt cx="952756" cy="914888"/>
            </a:xfrm>
          </p:grpSpPr>
          <p:pic>
            <p:nvPicPr>
              <p:cNvPr id="178" name="图片 177">
                <a:extLst>
                  <a:ext uri="{FF2B5EF4-FFF2-40B4-BE49-F238E27FC236}">
                    <a16:creationId xmlns:a16="http://schemas.microsoft.com/office/drawing/2014/main" id="{37955A08-039A-1A80-9E37-37967B6D4C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15285" b="39434" l="59270" r="69252"/>
                        </a14:imgEffect>
                      </a14:imgLayer>
                    </a14:imgProps>
                  </a:ext>
                </a:extLst>
              </a:blip>
              <a:srcRect l="58022" t="12267" r="29500" b="57547"/>
              <a:stretch>
                <a:fillRect/>
              </a:stretch>
            </p:blipFill>
            <p:spPr>
              <a:xfrm>
                <a:off x="1227840" y="3097190"/>
                <a:ext cx="585913" cy="771274"/>
              </a:xfrm>
              <a:prstGeom prst="rect">
                <a:avLst/>
              </a:prstGeom>
            </p:spPr>
          </p:pic>
          <p:sp>
            <p:nvSpPr>
              <p:cNvPr id="33" name="TextBox 106">
                <a:extLst>
                  <a:ext uri="{FF2B5EF4-FFF2-40B4-BE49-F238E27FC236}">
                    <a16:creationId xmlns:a16="http://schemas.microsoft.com/office/drawing/2014/main" id="{DA22626D-B9F4-7DBE-6636-31F44807C87A}"/>
                  </a:ext>
                </a:extLst>
              </p:cNvPr>
              <p:cNvSpPr txBox="1"/>
              <p:nvPr/>
            </p:nvSpPr>
            <p:spPr>
              <a:xfrm>
                <a:off x="1040637" y="3827412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Auditor</a:t>
                </a:r>
                <a:endParaRPr sz="1200" b="1" i="0" dirty="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F0E4DC92-1ADA-C338-860D-9504CF29FF7A}"/>
                </a:ext>
              </a:extLst>
            </p:cNvPr>
            <p:cNvGrpSpPr/>
            <p:nvPr/>
          </p:nvGrpSpPr>
          <p:grpSpPr>
            <a:xfrm>
              <a:off x="1934349" y="2987322"/>
              <a:ext cx="952742" cy="848399"/>
              <a:chOff x="1778158" y="2670427"/>
              <a:chExt cx="952756" cy="848419"/>
            </a:xfrm>
          </p:grpSpPr>
          <p:pic>
            <p:nvPicPr>
              <p:cNvPr id="180" name="图片 179">
                <a:extLst>
                  <a:ext uri="{FF2B5EF4-FFF2-40B4-BE49-F238E27FC236}">
                    <a16:creationId xmlns:a16="http://schemas.microsoft.com/office/drawing/2014/main" id="{FB20C29E-9243-EB08-0976-A8A7B0CF3C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6417" b="40173" l="89055" r="98158"/>
                        </a14:imgEffect>
                      </a14:imgLayer>
                    </a14:imgProps>
                  </a:ext>
                </a:extLst>
              </a:blip>
              <a:srcRect l="87917" t="13447" r="704" b="56857"/>
              <a:stretch>
                <a:fillRect/>
              </a:stretch>
            </p:blipFill>
            <p:spPr>
              <a:xfrm>
                <a:off x="2020222" y="2670427"/>
                <a:ext cx="521548" cy="740600"/>
              </a:xfrm>
              <a:prstGeom prst="rect">
                <a:avLst/>
              </a:prstGeom>
            </p:spPr>
          </p:pic>
          <p:sp>
            <p:nvSpPr>
              <p:cNvPr id="34" name="TextBox 106">
                <a:extLst>
                  <a:ext uri="{FF2B5EF4-FFF2-40B4-BE49-F238E27FC236}">
                    <a16:creationId xmlns:a16="http://schemas.microsoft.com/office/drawing/2014/main" id="{C100B302-F6EE-0B07-8167-C5E1389B1E82}"/>
                  </a:ext>
                </a:extLst>
              </p:cNvPr>
              <p:cNvSpPr txBox="1"/>
              <p:nvPr/>
            </p:nvSpPr>
            <p:spPr>
              <a:xfrm>
                <a:off x="1778158" y="3334180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Auditor</a:t>
                </a:r>
                <a:endParaRPr sz="1200" b="1" i="0" dirty="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6CD4000-158D-BD58-4575-C7FC45517B6D}"/>
                </a:ext>
              </a:extLst>
            </p:cNvPr>
            <p:cNvGrpSpPr/>
            <p:nvPr/>
          </p:nvGrpSpPr>
          <p:grpSpPr>
            <a:xfrm>
              <a:off x="391937" y="3018424"/>
              <a:ext cx="952742" cy="863960"/>
              <a:chOff x="235723" y="2671550"/>
              <a:chExt cx="952756" cy="863980"/>
            </a:xfrm>
          </p:grpSpPr>
          <p:pic>
            <p:nvPicPr>
              <p:cNvPr id="174" name="图片 173">
                <a:extLst>
                  <a:ext uri="{FF2B5EF4-FFF2-40B4-BE49-F238E27FC236}">
                    <a16:creationId xmlns:a16="http://schemas.microsoft.com/office/drawing/2014/main" id="{FC80C040-3D40-4E71-6DE7-FDB5561D78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18">
                        <a14:imgEffect>
                          <a14:backgroundRemoval t="60513" b="83445" l="19218" r="28131">
                            <a14:foregroundMark x1="22359" y1="61835" x2="26773" y2="62633"/>
                          </a14:backgroundRemoval>
                        </a14:imgEffect>
                      </a14:imgLayer>
                    </a14:imgProps>
                  </a:ext>
                </a:extLst>
              </a:blip>
              <a:srcRect l="18104" t="57647" r="70755" b="13689"/>
              <a:stretch>
                <a:fillRect/>
              </a:stretch>
            </p:blipFill>
            <p:spPr>
              <a:xfrm>
                <a:off x="436134" y="2671550"/>
                <a:ext cx="528198" cy="739477"/>
              </a:xfrm>
              <a:prstGeom prst="rect">
                <a:avLst/>
              </a:prstGeom>
            </p:spPr>
          </p:pic>
          <p:sp>
            <p:nvSpPr>
              <p:cNvPr id="35" name="TextBox 106">
                <a:extLst>
                  <a:ext uri="{FF2B5EF4-FFF2-40B4-BE49-F238E27FC236}">
                    <a16:creationId xmlns:a16="http://schemas.microsoft.com/office/drawing/2014/main" id="{3E2218B9-2579-0826-544B-6283B3DB78E1}"/>
                  </a:ext>
                </a:extLst>
              </p:cNvPr>
              <p:cNvSpPr txBox="1"/>
              <p:nvPr/>
            </p:nvSpPr>
            <p:spPr>
              <a:xfrm>
                <a:off x="235723" y="3350864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Auditor</a:t>
                </a:r>
                <a:endParaRPr sz="1200" b="1" i="0" dirty="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4F416517-0828-CE8D-33E2-4D0081567978}"/>
                </a:ext>
              </a:extLst>
            </p:cNvPr>
            <p:cNvGrpSpPr/>
            <p:nvPr/>
          </p:nvGrpSpPr>
          <p:grpSpPr>
            <a:xfrm>
              <a:off x="373150" y="2025599"/>
              <a:ext cx="952742" cy="823314"/>
              <a:chOff x="216936" y="1813612"/>
              <a:chExt cx="952756" cy="823333"/>
            </a:xfrm>
          </p:grpSpPr>
          <p:pic>
            <p:nvPicPr>
              <p:cNvPr id="173" name="图片 172">
                <a:extLst>
                  <a:ext uri="{FF2B5EF4-FFF2-40B4-BE49-F238E27FC236}">
                    <a16:creationId xmlns:a16="http://schemas.microsoft.com/office/drawing/2014/main" id="{503038CA-BC1C-F97B-F787-D9C6CF747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backgroundRemoval t="11816" b="39497" l="7889" r="20199"/>
                        </a14:imgEffect>
                      </a14:imgLayer>
                    </a14:imgProps>
                  </a:ext>
                </a:extLst>
              </a:blip>
              <a:srcRect l="6350" t="8356" r="78262" b="57043"/>
              <a:stretch>
                <a:fillRect/>
              </a:stretch>
            </p:blipFill>
            <p:spPr>
              <a:xfrm>
                <a:off x="406977" y="1813612"/>
                <a:ext cx="563012" cy="688865"/>
              </a:xfrm>
              <a:prstGeom prst="rect">
                <a:avLst/>
              </a:prstGeom>
            </p:spPr>
          </p:pic>
          <p:sp>
            <p:nvSpPr>
              <p:cNvPr id="36" name="TextBox 106">
                <a:extLst>
                  <a:ext uri="{FF2B5EF4-FFF2-40B4-BE49-F238E27FC236}">
                    <a16:creationId xmlns:a16="http://schemas.microsoft.com/office/drawing/2014/main" id="{8B1E4F40-F5D4-5D23-84D2-D7810BE5BFFA}"/>
                  </a:ext>
                </a:extLst>
              </p:cNvPr>
              <p:cNvSpPr txBox="1"/>
              <p:nvPr/>
            </p:nvSpPr>
            <p:spPr>
              <a:xfrm>
                <a:off x="216936" y="2452279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Auditor</a:t>
                </a:r>
                <a:endParaRPr sz="1200" b="1" i="0" dirty="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DCCE7D68-770C-8752-2AB5-F2562DC8ABC4}"/>
                </a:ext>
              </a:extLst>
            </p:cNvPr>
            <p:cNvGrpSpPr/>
            <p:nvPr/>
          </p:nvGrpSpPr>
          <p:grpSpPr>
            <a:xfrm>
              <a:off x="1948710" y="1957122"/>
              <a:ext cx="952742" cy="874052"/>
              <a:chOff x="1792519" y="1745133"/>
              <a:chExt cx="952756" cy="874073"/>
            </a:xfrm>
          </p:grpSpPr>
          <p:pic>
            <p:nvPicPr>
              <p:cNvPr id="181" name="图片 180">
                <a:extLst>
                  <a:ext uri="{FF2B5EF4-FFF2-40B4-BE49-F238E27FC236}">
                    <a16:creationId xmlns:a16="http://schemas.microsoft.com/office/drawing/2014/main" id="{E5EA9B08-4AF7-1859-4E9E-EB8331797D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backgroundRemoval t="16909" b="40658" l="46413" r="56395"/>
                        </a14:imgEffect>
                      </a14:imgLayer>
                    </a14:imgProps>
                  </a:ext>
                </a:extLst>
              </a:blip>
              <a:srcRect l="45165" t="13940" r="42357" b="56373"/>
              <a:stretch>
                <a:fillRect/>
              </a:stretch>
            </p:blipFill>
            <p:spPr>
              <a:xfrm>
                <a:off x="1988140" y="1745133"/>
                <a:ext cx="578399" cy="748820"/>
              </a:xfrm>
              <a:prstGeom prst="rect">
                <a:avLst/>
              </a:prstGeom>
            </p:spPr>
          </p:pic>
          <p:sp>
            <p:nvSpPr>
              <p:cNvPr id="37" name="TextBox 106">
                <a:extLst>
                  <a:ext uri="{FF2B5EF4-FFF2-40B4-BE49-F238E27FC236}">
                    <a16:creationId xmlns:a16="http://schemas.microsoft.com/office/drawing/2014/main" id="{8407EA0E-FE07-A6B1-6B42-3BB7E6FF5705}"/>
                  </a:ext>
                </a:extLst>
              </p:cNvPr>
              <p:cNvSpPr txBox="1"/>
              <p:nvPr/>
            </p:nvSpPr>
            <p:spPr>
              <a:xfrm>
                <a:off x="1792519" y="2434540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Auditor</a:t>
                </a:r>
                <a:endParaRPr sz="1200" b="1" i="0" dirty="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51" name="Down Arrow 79">
              <a:extLst>
                <a:ext uri="{FF2B5EF4-FFF2-40B4-BE49-F238E27FC236}">
                  <a16:creationId xmlns:a16="http://schemas.microsoft.com/office/drawing/2014/main" id="{EDE9C58A-4CD2-D8D4-087D-67C5AF759935}"/>
                </a:ext>
              </a:extLst>
            </p:cNvPr>
            <p:cNvSpPr/>
            <p:nvPr/>
          </p:nvSpPr>
          <p:spPr>
            <a:xfrm rot="16200000">
              <a:off x="6071749" y="3191762"/>
              <a:ext cx="373636" cy="464359"/>
            </a:xfrm>
            <a:prstGeom prst="downArrow">
              <a:avLst/>
            </a:prstGeom>
            <a:solidFill>
              <a:srgbClr val="7992B5"/>
            </a:solidFill>
            <a:ln w="8890">
              <a:solidFill>
                <a:srgbClr val="7992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7B86CBBB-01A3-B532-184E-C59336E13AC6}"/>
                </a:ext>
              </a:extLst>
            </p:cNvPr>
            <p:cNvGrpSpPr/>
            <p:nvPr/>
          </p:nvGrpSpPr>
          <p:grpSpPr>
            <a:xfrm>
              <a:off x="3117352" y="4034897"/>
              <a:ext cx="903118" cy="1025958"/>
              <a:chOff x="3279399" y="4034897"/>
              <a:chExt cx="903118" cy="1025958"/>
            </a:xfrm>
          </p:grpSpPr>
          <p:pic>
            <p:nvPicPr>
              <p:cNvPr id="82" name="Picture 81" descr="image.png">
                <a:extLst>
                  <a:ext uri="{FF2B5EF4-FFF2-40B4-BE49-F238E27FC236}">
                    <a16:creationId xmlns:a16="http://schemas.microsoft.com/office/drawing/2014/main" id="{5D618887-4B45-CBDF-1A86-AF95A7301A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84205" y="4395873"/>
                <a:ext cx="398312" cy="398309"/>
              </a:xfrm>
              <a:prstGeom prst="rect">
                <a:avLst/>
              </a:prstGeom>
            </p:spPr>
          </p:pic>
          <p:pic>
            <p:nvPicPr>
              <p:cNvPr id="176" name="图片 175">
                <a:extLst>
                  <a:ext uri="{FF2B5EF4-FFF2-40B4-BE49-F238E27FC236}">
                    <a16:creationId xmlns:a16="http://schemas.microsoft.com/office/drawing/2014/main" id="{50316A7A-D9F0-3A52-F13E-F96C0CEB6D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58808" b="83541" l="45978" r="56583"/>
                        </a14:imgEffect>
                      </a14:imgLayer>
                    </a14:imgProps>
                  </a:ext>
                </a:extLst>
              </a:blip>
              <a:srcRect l="44652" t="55716" r="42091" b="13367"/>
              <a:stretch>
                <a:fillRect/>
              </a:stretch>
            </p:blipFill>
            <p:spPr>
              <a:xfrm>
                <a:off x="3298542" y="4034897"/>
                <a:ext cx="694418" cy="881143"/>
              </a:xfrm>
              <a:prstGeom prst="rect">
                <a:avLst/>
              </a:prstGeom>
            </p:spPr>
          </p:pic>
          <p:sp>
            <p:nvSpPr>
              <p:cNvPr id="59" name="TextBox 106">
                <a:extLst>
                  <a:ext uri="{FF2B5EF4-FFF2-40B4-BE49-F238E27FC236}">
                    <a16:creationId xmlns:a16="http://schemas.microsoft.com/office/drawing/2014/main" id="{25AAC767-13CA-1A28-6DCF-D5815FB6AF35}"/>
                  </a:ext>
                </a:extLst>
              </p:cNvPr>
              <p:cNvSpPr txBox="1"/>
              <p:nvPr/>
            </p:nvSpPr>
            <p:spPr>
              <a:xfrm>
                <a:off x="3279399" y="4876193"/>
                <a:ext cx="773114" cy="18466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Judge</a:t>
                </a:r>
                <a:endParaRPr sz="1200" b="1" i="0" dirty="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67" name="肘形连接符 66">
              <a:extLst>
                <a:ext uri="{FF2B5EF4-FFF2-40B4-BE49-F238E27FC236}">
                  <a16:creationId xmlns:a16="http://schemas.microsoft.com/office/drawing/2014/main" id="{C7CE2423-93FE-BBC6-05FF-2A32F5B425CA}"/>
                </a:ext>
              </a:extLst>
            </p:cNvPr>
            <p:cNvCxnSpPr>
              <a:cxnSpLocks/>
              <a:stCxn id="82" idx="2"/>
              <a:endCxn id="107" idx="1"/>
            </p:cNvCxnSpPr>
            <p:nvPr/>
          </p:nvCxnSpPr>
          <p:spPr>
            <a:xfrm rot="16200000" flipH="1">
              <a:off x="3916666" y="4698829"/>
              <a:ext cx="684110" cy="874815"/>
            </a:xfrm>
            <a:prstGeom prst="bentConnector2">
              <a:avLst/>
            </a:prstGeom>
            <a:ln w="33020">
              <a:solidFill>
                <a:srgbClr val="587E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肘形连接符 72">
              <a:extLst>
                <a:ext uri="{FF2B5EF4-FFF2-40B4-BE49-F238E27FC236}">
                  <a16:creationId xmlns:a16="http://schemas.microsoft.com/office/drawing/2014/main" id="{B3498EEA-6665-4A96-D806-167557EDF270}"/>
                </a:ext>
              </a:extLst>
            </p:cNvPr>
            <p:cNvCxnSpPr>
              <a:stCxn id="251" idx="1"/>
              <a:endCxn id="120" idx="0"/>
            </p:cNvCxnSpPr>
            <p:nvPr/>
          </p:nvCxnSpPr>
          <p:spPr>
            <a:xfrm rot="10800000" flipV="1">
              <a:off x="6974830" y="1427896"/>
              <a:ext cx="1378651" cy="930895"/>
            </a:xfrm>
            <a:prstGeom prst="bentConnector2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F0016CF-CD88-0FB6-EBBD-FECD23BEE441}"/>
                </a:ext>
              </a:extLst>
            </p:cNvPr>
            <p:cNvSpPr txBox="1"/>
            <p:nvPr/>
          </p:nvSpPr>
          <p:spPr>
            <a:xfrm>
              <a:off x="1732877" y="5069185"/>
              <a:ext cx="4083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solidFill>
                    <a:srgbClr val="BF360C"/>
                  </a:solidFill>
                  <a:latin typeface="Microsoft YaHei"/>
                  <a:ea typeface="Microsoft YaHei"/>
                </a:rPr>
                <a:t>⭐</a:t>
              </a:r>
              <a:endParaRPr lang="zh-CN" altLang="en-US" dirty="0"/>
            </a:p>
          </p:txBody>
        </p:sp>
        <p:grpSp>
          <p:nvGrpSpPr>
            <p:cNvPr id="19" name="InvertedCone3D">
              <a:extLst>
                <a:ext uri="{FF2B5EF4-FFF2-40B4-BE49-F238E27FC236}">
                  <a16:creationId xmlns:a16="http://schemas.microsoft.com/office/drawing/2014/main" id="{F58CE88C-DA7B-E143-8774-D8DCD20454F5}"/>
                </a:ext>
              </a:extLst>
            </p:cNvPr>
            <p:cNvGrpSpPr/>
            <p:nvPr/>
          </p:nvGrpSpPr>
          <p:grpSpPr>
            <a:xfrm>
              <a:off x="6312598" y="2631744"/>
              <a:ext cx="1430114" cy="898221"/>
              <a:chOff x="0" y="0"/>
              <a:chExt cx="2600000" cy="3200000"/>
            </a:xfrm>
          </p:grpSpPr>
          <p:sp>
            <p:nvSpPr>
              <p:cNvPr id="20" name="ConeBody">
                <a:extLst>
                  <a:ext uri="{FF2B5EF4-FFF2-40B4-BE49-F238E27FC236}">
                    <a16:creationId xmlns:a16="http://schemas.microsoft.com/office/drawing/2014/main" id="{A4A34C40-BBFE-E222-04A0-8A56607CC91F}"/>
                  </a:ext>
                </a:extLst>
              </p:cNvPr>
              <p:cNvSpPr/>
              <p:nvPr/>
            </p:nvSpPr>
            <p:spPr>
              <a:xfrm>
                <a:off x="0" y="0"/>
                <a:ext cx="2600000" cy="3200000"/>
              </a:xfrm>
              <a:custGeom>
                <a:avLst/>
                <a:gdLst>
                  <a:gd name="w" fmla="val 2600000"/>
                  <a:gd name="h" fmla="val 3200000"/>
                </a:gdLst>
                <a:ahLst/>
                <a:cxnLst/>
                <a:rect l="0" t="0" r="2600000" b="3200000"/>
                <a:pathLst>
                  <a:path w="2600000" h="3200000">
                    <a:moveTo>
                      <a:pt x="0" y="500000"/>
                    </a:moveTo>
                    <a:lnTo>
                      <a:pt x="1300000" y="3200000"/>
                    </a:lnTo>
                    <a:lnTo>
                      <a:pt x="2600000" y="500000"/>
                    </a:lnTo>
                    <a:cubicBezTo>
                      <a:pt x="2600000" y="776000"/>
                      <a:pt x="2017000" y="1000000"/>
                      <a:pt x="1300000" y="1000000"/>
                    </a:cubicBezTo>
                    <a:cubicBezTo>
                      <a:pt x="583000" y="1000000"/>
                      <a:pt x="0" y="776000"/>
                      <a:pt x="0" y="500000"/>
                    </a:cubicBezTo>
                    <a:close/>
                  </a:path>
                </a:pathLst>
              </a:custGeom>
              <a:solidFill>
                <a:srgbClr val="B3C6C7"/>
              </a:solidFill>
              <a:ln w="12700">
                <a:solidFill>
                  <a:srgbClr val="2B579A"/>
                </a:solidFill>
              </a:ln>
            </p:spPr>
            <p:txBody>
              <a:bodyPr/>
              <a:lstStyle/>
              <a:p>
                <a:endParaRPr lang="zh-CN"/>
              </a:p>
            </p:txBody>
          </p:sp>
          <p:sp>
            <p:nvSpPr>
              <p:cNvPr id="23" name="ConeTopEllipse">
                <a:extLst>
                  <a:ext uri="{FF2B5EF4-FFF2-40B4-BE49-F238E27FC236}">
                    <a16:creationId xmlns:a16="http://schemas.microsoft.com/office/drawing/2014/main" id="{B7CDB017-1D0A-7E43-C48E-0892CEB9FFC7}"/>
                  </a:ext>
                </a:extLst>
              </p:cNvPr>
              <p:cNvSpPr/>
              <p:nvPr/>
            </p:nvSpPr>
            <p:spPr>
              <a:xfrm>
                <a:off x="0" y="0"/>
                <a:ext cx="2600000" cy="1000000"/>
              </a:xfrm>
              <a:prstGeom prst="ellipse">
                <a:avLst/>
              </a:prstGeom>
              <a:solidFill>
                <a:srgbClr val="B3C6C7">
                  <a:alpha val="38431"/>
                </a:srgbClr>
              </a:solidFill>
              <a:ln w="15875">
                <a:solidFill>
                  <a:srgbClr val="2B579A"/>
                </a:solidFill>
              </a:ln>
            </p:spPr>
            <p:txBody>
              <a:bodyPr/>
              <a:lstStyle/>
              <a:p>
                <a:endParaRPr lang="zh-CN"/>
              </a:p>
            </p:txBody>
          </p:sp>
          <p:sp>
            <p:nvSpPr>
              <p:cNvPr id="25" name="ConeBackArc">
                <a:extLst>
                  <a:ext uri="{FF2B5EF4-FFF2-40B4-BE49-F238E27FC236}">
                    <a16:creationId xmlns:a16="http://schemas.microsoft.com/office/drawing/2014/main" id="{FBA5D6D7-FA14-D7DA-5DB5-73880A47F3FC}"/>
                  </a:ext>
                </a:extLst>
              </p:cNvPr>
              <p:cNvSpPr/>
              <p:nvPr/>
            </p:nvSpPr>
            <p:spPr>
              <a:xfrm>
                <a:off x="0" y="0"/>
                <a:ext cx="2600000" cy="3200000"/>
              </a:xfrm>
              <a:custGeom>
                <a:avLst/>
                <a:gdLst/>
                <a:ahLst/>
                <a:cxnLst/>
                <a:rect l="0" t="0" r="2600000" b="3200000"/>
                <a:pathLst>
                  <a:path w="2600000" h="3200000">
                    <a:moveTo>
                      <a:pt x="0" y="500000"/>
                    </a:moveTo>
                    <a:cubicBezTo>
                      <a:pt x="0" y="224000"/>
                      <a:pt x="583000" y="0"/>
                      <a:pt x="1300000" y="0"/>
                    </a:cubicBezTo>
                    <a:cubicBezTo>
                      <a:pt x="2017000" y="0"/>
                      <a:pt x="2600000" y="224000"/>
                      <a:pt x="2600000" y="500000"/>
                    </a:cubicBezTo>
                  </a:path>
                </a:pathLst>
              </a:custGeom>
              <a:noFill/>
              <a:ln w="12700">
                <a:solidFill>
                  <a:srgbClr val="2B579A"/>
                </a:solidFill>
                <a:prstDash val="dash"/>
              </a:ln>
            </p:spPr>
            <p:txBody>
              <a:bodyPr/>
              <a:lstStyle/>
              <a:p>
                <a:endParaRPr lang="zh-CN"/>
              </a:p>
            </p:txBody>
          </p:sp>
        </p:grp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C8E088F5-295D-38A4-458B-47934C76F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530625" y="2405185"/>
              <a:ext cx="386667" cy="386667"/>
            </a:xfrm>
            <a:prstGeom prst="rect">
              <a:avLst/>
            </a:prstGeom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E8A5D2C8-24A6-BA41-16D9-7EBA66F40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5400000">
              <a:off x="6800884" y="2941581"/>
              <a:ext cx="386294" cy="474663"/>
            </a:xfrm>
            <a:prstGeom prst="rect">
              <a:avLst/>
            </a:prstGeom>
          </p:spPr>
        </p:pic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9C9252EB-9580-3DF1-D743-C4972C976882}"/>
                </a:ext>
              </a:extLst>
            </p:cNvPr>
            <p:cNvGrpSpPr/>
            <p:nvPr/>
          </p:nvGrpSpPr>
          <p:grpSpPr>
            <a:xfrm>
              <a:off x="1051946" y="1224524"/>
              <a:ext cx="1078685" cy="1264576"/>
              <a:chOff x="982496" y="1224524"/>
              <a:chExt cx="1078685" cy="1264576"/>
            </a:xfrm>
          </p:grpSpPr>
          <p:pic>
            <p:nvPicPr>
              <p:cNvPr id="175" name="图片 174">
                <a:extLst>
                  <a:ext uri="{FF2B5EF4-FFF2-40B4-BE49-F238E27FC236}">
                    <a16:creationId xmlns:a16="http://schemas.microsoft.com/office/drawing/2014/main" id="{6E1128E2-4FF0-4A5E-57C7-E0E138F54A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BEBA8EAE-BF5A-486C-A8C5-ECC9F3942E4B}">
                    <a14:imgProps xmlns:a14="http://schemas.microsoft.com/office/drawing/2010/main">
                      <a14:imgLayer r:embed="rId26">
                        <a14:imgEffect>
                          <a14:backgroundRemoval t="15908" b="40930" l="45591" r="56197"/>
                        </a14:imgEffect>
                      </a14:imgLayer>
                    </a14:imgProps>
                  </a:ext>
                </a:extLst>
              </a:blip>
              <a:srcRect l="44265" t="12780" r="42477" b="55942"/>
              <a:stretch>
                <a:fillRect/>
              </a:stretch>
            </p:blipFill>
            <p:spPr>
              <a:xfrm>
                <a:off x="1305221" y="1350324"/>
                <a:ext cx="552528" cy="709285"/>
              </a:xfrm>
              <a:prstGeom prst="rect">
                <a:avLst/>
              </a:prstGeom>
            </p:spPr>
          </p:pic>
          <p:sp>
            <p:nvSpPr>
              <p:cNvPr id="32" name="TextBox 106">
                <a:extLst>
                  <a:ext uri="{FF2B5EF4-FFF2-40B4-BE49-F238E27FC236}">
                    <a16:creationId xmlns:a16="http://schemas.microsoft.com/office/drawing/2014/main" id="{A7E476EC-0CE9-C2A8-294B-CABC26021F4E}"/>
                  </a:ext>
                </a:extLst>
              </p:cNvPr>
              <p:cNvSpPr txBox="1"/>
              <p:nvPr/>
            </p:nvSpPr>
            <p:spPr>
              <a:xfrm>
                <a:off x="1108439" y="2019360"/>
                <a:ext cx="952742" cy="18466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70C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Guardian</a:t>
                </a:r>
                <a:endParaRPr sz="1200" b="1" i="0" dirty="0">
                  <a:solidFill>
                    <a:srgbClr val="0070C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73CE000-87CF-A0A0-9B52-6DB498959A4B}"/>
                  </a:ext>
                </a:extLst>
              </p:cNvPr>
              <p:cNvSpPr txBox="1"/>
              <p:nvPr/>
            </p:nvSpPr>
            <p:spPr>
              <a:xfrm>
                <a:off x="982496" y="2150546"/>
                <a:ext cx="107653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800" b="1" dirty="0">
                    <a:solidFill>
                      <a:srgbClr val="BF360C"/>
                    </a:solidFill>
                    <a:latin typeface="Microsoft YaHei"/>
                    <a:ea typeface="Microsoft YaHei"/>
                  </a:rPr>
                  <a:t>⭐ </a:t>
                </a:r>
                <a:r>
                  <a:rPr lang="en-US" altLang="zh-CN" sz="800" b="1" dirty="0">
                    <a:solidFill>
                      <a:srgbClr val="E65100"/>
                    </a:solidFill>
                    <a:latin typeface="Arial"/>
                  </a:rPr>
                  <a:t>Home-Field Authority</a:t>
                </a:r>
              </a:p>
            </p:txBody>
          </p:sp>
          <p:sp>
            <p:nvSpPr>
              <p:cNvPr id="28" name="GoldGlowRect">
                <a:extLst>
                  <a:ext uri="{FF2B5EF4-FFF2-40B4-BE49-F238E27FC236}">
                    <a16:creationId xmlns:a16="http://schemas.microsoft.com/office/drawing/2014/main" id="{BE003823-C89A-48C4-1791-64F8F57F01F2}"/>
                  </a:ext>
                </a:extLst>
              </p:cNvPr>
              <p:cNvSpPr/>
              <p:nvPr/>
            </p:nvSpPr>
            <p:spPr>
              <a:xfrm>
                <a:off x="1164770" y="1224524"/>
                <a:ext cx="806023" cy="974759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D4A843"/>
                </a:solidFill>
                <a:round/>
              </a:ln>
              <a:effectLst>
                <a:outerShdw blurRad="57150" dist="25400" dir="5400000" rotWithShape="0">
                  <a:srgbClr val="B8860B">
                    <a:alpha val="50000"/>
                  </a:srgbClr>
                </a:outerShdw>
              </a:effectLst>
            </p:spPr>
            <p:txBody>
              <a:bodyPr wrap="square" lIns="72000" tIns="36000" rIns="72000" bIns="36000" anchor="ctr"/>
              <a:lstStyle/>
              <a:p>
                <a:endParaRPr lang="en-US"/>
              </a:p>
            </p:txBody>
          </p:sp>
          <p:pic>
            <p:nvPicPr>
              <p:cNvPr id="62" name="图片 61">
                <a:extLst>
                  <a:ext uri="{FF2B5EF4-FFF2-40B4-BE49-F238E27FC236}">
                    <a16:creationId xmlns:a16="http://schemas.microsoft.com/office/drawing/2014/main" id="{03901E96-70B2-D8B4-5299-C521535D63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01531" y="1671428"/>
                <a:ext cx="443212" cy="443212"/>
              </a:xfrm>
              <a:prstGeom prst="rect">
                <a:avLst/>
              </a:prstGeom>
            </p:spPr>
          </p:pic>
        </p:grpSp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3A9968A1-0CAE-5693-2CE3-C9DEB2115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573627" y="3666560"/>
              <a:ext cx="386667" cy="386667"/>
            </a:xfrm>
            <a:prstGeom prst="rect">
              <a:avLst/>
            </a:prstGeom>
          </p:spPr>
        </p:pic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F358F513-A2E3-A0FC-3F73-D07225465C53}"/>
                </a:ext>
              </a:extLst>
            </p:cNvPr>
            <p:cNvGrpSpPr/>
            <p:nvPr/>
          </p:nvGrpSpPr>
          <p:grpSpPr>
            <a:xfrm>
              <a:off x="4029775" y="1313254"/>
              <a:ext cx="952742" cy="979498"/>
              <a:chOff x="1108439" y="1224524"/>
              <a:chExt cx="952742" cy="979498"/>
            </a:xfrm>
          </p:grpSpPr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4C91D173-776A-8F6F-FE51-713C111E2E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BEBA8EAE-BF5A-486C-A8C5-ECC9F3942E4B}">
                    <a14:imgProps xmlns:a14="http://schemas.microsoft.com/office/drawing/2010/main">
                      <a14:imgLayer r:embed="rId26">
                        <a14:imgEffect>
                          <a14:backgroundRemoval t="15908" b="40930" l="45591" r="56197"/>
                        </a14:imgEffect>
                      </a14:imgLayer>
                    </a14:imgProps>
                  </a:ext>
                </a:extLst>
              </a:blip>
              <a:srcRect l="44265" t="12780" r="42477" b="55942"/>
              <a:stretch>
                <a:fillRect/>
              </a:stretch>
            </p:blipFill>
            <p:spPr>
              <a:xfrm>
                <a:off x="1305221" y="1350324"/>
                <a:ext cx="552528" cy="709285"/>
              </a:xfrm>
              <a:prstGeom prst="rect">
                <a:avLst/>
              </a:prstGeom>
            </p:spPr>
          </p:pic>
          <p:sp>
            <p:nvSpPr>
              <p:cNvPr id="70" name="TextBox 106">
                <a:extLst>
                  <a:ext uri="{FF2B5EF4-FFF2-40B4-BE49-F238E27FC236}">
                    <a16:creationId xmlns:a16="http://schemas.microsoft.com/office/drawing/2014/main" id="{583DDE04-2C87-3F47-DA02-9E634EFD61E7}"/>
                  </a:ext>
                </a:extLst>
              </p:cNvPr>
              <p:cNvSpPr txBox="1"/>
              <p:nvPr/>
            </p:nvSpPr>
            <p:spPr>
              <a:xfrm>
                <a:off x="1108439" y="2019360"/>
                <a:ext cx="952742" cy="18466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70C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Guardian</a:t>
                </a:r>
                <a:endParaRPr sz="1200" b="1" i="0" dirty="0">
                  <a:solidFill>
                    <a:srgbClr val="0070C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2" name="GoldGlowRect">
                <a:extLst>
                  <a:ext uri="{FF2B5EF4-FFF2-40B4-BE49-F238E27FC236}">
                    <a16:creationId xmlns:a16="http://schemas.microsoft.com/office/drawing/2014/main" id="{C2899876-4198-CA49-66D7-AB77B722A9D2}"/>
                  </a:ext>
                </a:extLst>
              </p:cNvPr>
              <p:cNvSpPr/>
              <p:nvPr/>
            </p:nvSpPr>
            <p:spPr>
              <a:xfrm>
                <a:off x="1164770" y="1224524"/>
                <a:ext cx="806023" cy="974759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D4A843"/>
                </a:solidFill>
                <a:round/>
              </a:ln>
              <a:effectLst>
                <a:outerShdw blurRad="57150" dist="25400" dir="5400000" rotWithShape="0">
                  <a:srgbClr val="B8860B">
                    <a:alpha val="50000"/>
                  </a:srgbClr>
                </a:outerShdw>
              </a:effectLst>
            </p:spPr>
            <p:txBody>
              <a:bodyPr wrap="square" lIns="72000" tIns="36000" rIns="72000" bIns="36000" anchor="ctr"/>
              <a:lstStyle/>
              <a:p>
                <a:endParaRPr lang="en-US"/>
              </a:p>
            </p:txBody>
          </p:sp>
          <p:pic>
            <p:nvPicPr>
              <p:cNvPr id="74" name="图片 73">
                <a:extLst>
                  <a:ext uri="{FF2B5EF4-FFF2-40B4-BE49-F238E27FC236}">
                    <a16:creationId xmlns:a16="http://schemas.microsoft.com/office/drawing/2014/main" id="{ECE763EB-151B-744B-3216-52878D0952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01531" y="1671428"/>
                <a:ext cx="443212" cy="443212"/>
              </a:xfrm>
              <a:prstGeom prst="rect">
                <a:avLst/>
              </a:prstGeom>
            </p:spPr>
          </p:pic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A6ED8B12-5768-8E8A-D96F-6E616A8E8F54}"/>
                </a:ext>
              </a:extLst>
            </p:cNvPr>
            <p:cNvGrpSpPr/>
            <p:nvPr/>
          </p:nvGrpSpPr>
          <p:grpSpPr>
            <a:xfrm>
              <a:off x="3135065" y="1739100"/>
              <a:ext cx="831261" cy="450135"/>
              <a:chOff x="3135065" y="1771758"/>
              <a:chExt cx="831261" cy="450135"/>
            </a:xfrm>
          </p:grpSpPr>
          <p:sp>
            <p:nvSpPr>
              <p:cNvPr id="52" name="Cloud Callout 52">
                <a:extLst>
                  <a:ext uri="{FF2B5EF4-FFF2-40B4-BE49-F238E27FC236}">
                    <a16:creationId xmlns:a16="http://schemas.microsoft.com/office/drawing/2014/main" id="{AF4509A3-862C-64F5-7E49-9C7F8C48033A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19816"/>
                  <a:gd name="adj2" fmla="val 6022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TextBox 53">
                <a:extLst>
                  <a:ext uri="{FF2B5EF4-FFF2-40B4-BE49-F238E27FC236}">
                    <a16:creationId xmlns:a16="http://schemas.microsoft.com/office/drawing/2014/main" id="{7737CD98-AB80-1DEE-E93C-7C6D4F193E0F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Contrastive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Cultural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Perspective</a:t>
                </a:r>
                <a:endParaRPr lang="en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AF4BD75B-532A-44CC-1295-D0FF4F5464D0}"/>
                </a:ext>
              </a:extLst>
            </p:cNvPr>
            <p:cNvGrpSpPr/>
            <p:nvPr/>
          </p:nvGrpSpPr>
          <p:grpSpPr>
            <a:xfrm>
              <a:off x="3626179" y="2316829"/>
              <a:ext cx="831261" cy="450135"/>
              <a:chOff x="3135065" y="1771758"/>
              <a:chExt cx="831261" cy="450135"/>
            </a:xfrm>
          </p:grpSpPr>
          <p:sp>
            <p:nvSpPr>
              <p:cNvPr id="83" name="Cloud Callout 52">
                <a:extLst>
                  <a:ext uri="{FF2B5EF4-FFF2-40B4-BE49-F238E27FC236}">
                    <a16:creationId xmlns:a16="http://schemas.microsoft.com/office/drawing/2014/main" id="{2F5E4821-8CC6-C1D5-60F0-D1803EB74CDA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19816"/>
                  <a:gd name="adj2" fmla="val 6022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TextBox 53">
                <a:extLst>
                  <a:ext uri="{FF2B5EF4-FFF2-40B4-BE49-F238E27FC236}">
                    <a16:creationId xmlns:a16="http://schemas.microsoft.com/office/drawing/2014/main" id="{57A163DD-7DA6-A0C1-A4C1-712FBCB863C8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Contrastive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Cultural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Perspective</a:t>
                </a:r>
                <a:endParaRPr lang="en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877636F3-AB12-F988-C729-489B6CBB792A}"/>
                </a:ext>
              </a:extLst>
            </p:cNvPr>
            <p:cNvGrpSpPr/>
            <p:nvPr/>
          </p:nvGrpSpPr>
          <p:grpSpPr>
            <a:xfrm>
              <a:off x="4367823" y="2382771"/>
              <a:ext cx="831261" cy="450135"/>
              <a:chOff x="3135065" y="1771758"/>
              <a:chExt cx="831261" cy="450135"/>
            </a:xfrm>
          </p:grpSpPr>
          <p:sp>
            <p:nvSpPr>
              <p:cNvPr id="112" name="Cloud Callout 52">
                <a:extLst>
                  <a:ext uri="{FF2B5EF4-FFF2-40B4-BE49-F238E27FC236}">
                    <a16:creationId xmlns:a16="http://schemas.microsoft.com/office/drawing/2014/main" id="{655696EC-3828-8F2D-3A46-2D870D3889DE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37388"/>
                  <a:gd name="adj2" fmla="val 45835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TextBox 53">
                <a:extLst>
                  <a:ext uri="{FF2B5EF4-FFF2-40B4-BE49-F238E27FC236}">
                    <a16:creationId xmlns:a16="http://schemas.microsoft.com/office/drawing/2014/main" id="{D6E2E28B-FA15-7013-AE41-137BAB5C86DE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Contrastive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Cultural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Perspective</a:t>
                </a:r>
                <a:endParaRPr lang="en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95FBF7D9-5098-C0AB-1887-9F6F4BD8872B}"/>
                </a:ext>
              </a:extLst>
            </p:cNvPr>
            <p:cNvGrpSpPr/>
            <p:nvPr/>
          </p:nvGrpSpPr>
          <p:grpSpPr>
            <a:xfrm>
              <a:off x="4864478" y="2035737"/>
              <a:ext cx="831261" cy="450135"/>
              <a:chOff x="3135065" y="1771758"/>
              <a:chExt cx="831261" cy="450135"/>
            </a:xfrm>
          </p:grpSpPr>
          <p:sp>
            <p:nvSpPr>
              <p:cNvPr id="115" name="Cloud Callout 52">
                <a:extLst>
                  <a:ext uri="{FF2B5EF4-FFF2-40B4-BE49-F238E27FC236}">
                    <a16:creationId xmlns:a16="http://schemas.microsoft.com/office/drawing/2014/main" id="{D0C58D44-F0AA-827A-6587-0DF6F4A8611E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35957"/>
                  <a:gd name="adj2" fmla="val 4640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TextBox 53">
                <a:extLst>
                  <a:ext uri="{FF2B5EF4-FFF2-40B4-BE49-F238E27FC236}">
                    <a16:creationId xmlns:a16="http://schemas.microsoft.com/office/drawing/2014/main" id="{0D10A5DF-8F6E-4906-26B4-DF7B157AFA25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Contrastive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Cultural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Perspective</a:t>
                </a:r>
                <a:endParaRPr lang="en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88F8E880-79FF-623C-8BFC-954444EDCEDB}"/>
                </a:ext>
              </a:extLst>
            </p:cNvPr>
            <p:cNvGrpSpPr/>
            <p:nvPr/>
          </p:nvGrpSpPr>
          <p:grpSpPr>
            <a:xfrm>
              <a:off x="4813634" y="1238250"/>
              <a:ext cx="831261" cy="450135"/>
              <a:chOff x="3135065" y="1771758"/>
              <a:chExt cx="831261" cy="450135"/>
            </a:xfrm>
          </p:grpSpPr>
          <p:sp>
            <p:nvSpPr>
              <p:cNvPr id="118" name="Cloud Callout 52">
                <a:extLst>
                  <a:ext uri="{FF2B5EF4-FFF2-40B4-BE49-F238E27FC236}">
                    <a16:creationId xmlns:a16="http://schemas.microsoft.com/office/drawing/2014/main" id="{2B0B3484-DA1C-4062-DC0A-2AD46DC1340C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19816"/>
                  <a:gd name="adj2" fmla="val 6022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TextBox 53">
                <a:extLst>
                  <a:ext uri="{FF2B5EF4-FFF2-40B4-BE49-F238E27FC236}">
                    <a16:creationId xmlns:a16="http://schemas.microsoft.com/office/drawing/2014/main" id="{64BC3933-5E11-23B7-46D0-7AF575A14B35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Contrastive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Cultural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Perspective</a:t>
                </a:r>
                <a:endParaRPr lang="en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31" name="图片 130">
              <a:extLst>
                <a:ext uri="{FF2B5EF4-FFF2-40B4-BE49-F238E27FC236}">
                  <a16:creationId xmlns:a16="http://schemas.microsoft.com/office/drawing/2014/main" id="{798F6ECE-C21F-FC7F-5A40-33DDCFC4E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500388" y="3962212"/>
              <a:ext cx="335345" cy="335345"/>
            </a:xfrm>
            <a:prstGeom prst="rect">
              <a:avLst/>
            </a:prstGeom>
          </p:spPr>
        </p:pic>
        <p:sp>
          <p:nvSpPr>
            <p:cNvPr id="142" name="左大括号 141">
              <a:extLst>
                <a:ext uri="{FF2B5EF4-FFF2-40B4-BE49-F238E27FC236}">
                  <a16:creationId xmlns:a16="http://schemas.microsoft.com/office/drawing/2014/main" id="{90AFA0A8-DAD0-E190-052D-2343EE0CCE31}"/>
                </a:ext>
              </a:extLst>
            </p:cNvPr>
            <p:cNvSpPr/>
            <p:nvPr/>
          </p:nvSpPr>
          <p:spPr>
            <a:xfrm>
              <a:off x="4073336" y="4103306"/>
              <a:ext cx="253199" cy="1042352"/>
            </a:xfrm>
            <a:prstGeom prst="leftBrace">
              <a:avLst/>
            </a:prstGeom>
            <a:ln w="33020">
              <a:solidFill>
                <a:srgbClr val="587E9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45" name="图片 144">
              <a:extLst>
                <a:ext uri="{FF2B5EF4-FFF2-40B4-BE49-F238E27FC236}">
                  <a16:creationId xmlns:a16="http://schemas.microsoft.com/office/drawing/2014/main" id="{563C6C8F-A1CC-404D-7D34-BE67D6662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455609" y="4289256"/>
              <a:ext cx="443212" cy="443212"/>
            </a:xfrm>
            <a:prstGeom prst="rect">
              <a:avLst/>
            </a:prstGeom>
          </p:spPr>
        </p:pic>
        <p:grpSp>
          <p:nvGrpSpPr>
            <p:cNvPr id="41" name="GRPOLossChart">
              <a:extLst>
                <a:ext uri="{FF2B5EF4-FFF2-40B4-BE49-F238E27FC236}">
                  <a16:creationId xmlns:a16="http://schemas.microsoft.com/office/drawing/2014/main" id="{83D36C24-BA50-360F-A1A1-F64D932C877E}"/>
                </a:ext>
              </a:extLst>
            </p:cNvPr>
            <p:cNvGrpSpPr/>
            <p:nvPr/>
          </p:nvGrpSpPr>
          <p:grpSpPr>
            <a:xfrm>
              <a:off x="9755822" y="2504004"/>
              <a:ext cx="798833" cy="441284"/>
              <a:chOff x="0" y="0"/>
              <a:chExt cx="2700000" cy="2200000"/>
            </a:xfrm>
          </p:grpSpPr>
          <p:sp>
            <p:nvSpPr>
              <p:cNvPr id="48" name="GRPOLossChart_YAxis">
                <a:extLst>
                  <a:ext uri="{FF2B5EF4-FFF2-40B4-BE49-F238E27FC236}">
                    <a16:creationId xmlns:a16="http://schemas.microsoft.com/office/drawing/2014/main" id="{F8E9175F-2046-32A1-8528-6DC4466A32C3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1950000"/>
                    </a:moveTo>
                    <a:lnTo>
                      <a:pt x="250000" y="140000"/>
                    </a:lnTo>
                    <a:moveTo>
                      <a:pt x="205000" y="230000"/>
                    </a:moveTo>
                    <a:lnTo>
                      <a:pt x="250000" y="140000"/>
                    </a:lnTo>
                    <a:lnTo>
                      <a:pt x="295000" y="230000"/>
                    </a:lnTo>
                    <a:moveTo>
                      <a:pt x="250000" y="1512500"/>
                    </a:moveTo>
                    <a:lnTo>
                      <a:pt x="210000" y="1512500"/>
                    </a:lnTo>
                    <a:moveTo>
                      <a:pt x="250000" y="1075000"/>
                    </a:moveTo>
                    <a:lnTo>
                      <a:pt x="210000" y="1075000"/>
                    </a:lnTo>
                    <a:moveTo>
                      <a:pt x="250000" y="637500"/>
                    </a:moveTo>
                    <a:lnTo>
                      <a:pt x="210000" y="63750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GRPOLossChart_XAxis">
                <a:extLst>
                  <a:ext uri="{FF2B5EF4-FFF2-40B4-BE49-F238E27FC236}">
                    <a16:creationId xmlns:a16="http://schemas.microsoft.com/office/drawing/2014/main" id="{22DB0F2F-BC1D-3B00-4A28-BC4989CA688B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1950000"/>
                    </a:moveTo>
                    <a:lnTo>
                      <a:pt x="2680000" y="1950000"/>
                    </a:lnTo>
                    <a:moveTo>
                      <a:pt x="2590000" y="1905000"/>
                    </a:moveTo>
                    <a:lnTo>
                      <a:pt x="2680000" y="1950000"/>
                    </a:lnTo>
                    <a:lnTo>
                      <a:pt x="2590000" y="1995000"/>
                    </a:lnTo>
                    <a:moveTo>
                      <a:pt x="842500" y="1950000"/>
                    </a:moveTo>
                    <a:lnTo>
                      <a:pt x="842500" y="1990000"/>
                    </a:lnTo>
                    <a:moveTo>
                      <a:pt x="1435000" y="1950000"/>
                    </a:moveTo>
                    <a:lnTo>
                      <a:pt x="1435000" y="1990000"/>
                    </a:lnTo>
                    <a:moveTo>
                      <a:pt x="2027500" y="1950000"/>
                    </a:moveTo>
                    <a:lnTo>
                      <a:pt x="2027500" y="1990000"/>
                    </a:lnTo>
                    <a:moveTo>
                      <a:pt x="2620000" y="1950000"/>
                    </a:moveTo>
                    <a:lnTo>
                      <a:pt x="2620000" y="199000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GRPOLossChart_Curve">
                <a:extLst>
                  <a:ext uri="{FF2B5EF4-FFF2-40B4-BE49-F238E27FC236}">
                    <a16:creationId xmlns:a16="http://schemas.microsoft.com/office/drawing/2014/main" id="{2DAE4740-D3D5-03D0-DE43-127113954998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427500"/>
                    </a:moveTo>
                    <a:lnTo>
                      <a:pt x="297400" y="534245"/>
                    </a:lnTo>
                    <a:lnTo>
                      <a:pt x="344800" y="637411"/>
                    </a:lnTo>
                    <a:lnTo>
                      <a:pt x="392200" y="742404"/>
                    </a:lnTo>
                    <a:lnTo>
                      <a:pt x="439600" y="850970"/>
                    </a:lnTo>
                    <a:lnTo>
                      <a:pt x="487000" y="961328"/>
                    </a:lnTo>
                    <a:lnTo>
                      <a:pt x="534400" y="1069109"/>
                    </a:lnTo>
                    <a:lnTo>
                      <a:pt x="581800" y="1168804"/>
                    </a:lnTo>
                    <a:lnTo>
                      <a:pt x="629200" y="1255358"/>
                    </a:lnTo>
                    <a:lnTo>
                      <a:pt x="676600" y="1325509"/>
                    </a:lnTo>
                    <a:lnTo>
                      <a:pt x="724000" y="1378587"/>
                    </a:lnTo>
                    <a:lnTo>
                      <a:pt x="771400" y="1416618"/>
                    </a:lnTo>
                    <a:lnTo>
                      <a:pt x="818800" y="1443772"/>
                    </a:lnTo>
                    <a:lnTo>
                      <a:pt x="866200" y="1465330"/>
                    </a:lnTo>
                    <a:lnTo>
                      <a:pt x="913600" y="1486456"/>
                    </a:lnTo>
                    <a:lnTo>
                      <a:pt x="961000" y="1511085"/>
                    </a:lnTo>
                    <a:lnTo>
                      <a:pt x="1008400" y="1541171"/>
                    </a:lnTo>
                    <a:lnTo>
                      <a:pt x="1055800" y="1576460"/>
                    </a:lnTo>
                    <a:lnTo>
                      <a:pt x="1103200" y="1614792"/>
                    </a:lnTo>
                    <a:lnTo>
                      <a:pt x="1150600" y="1652824"/>
                    </a:lnTo>
                    <a:lnTo>
                      <a:pt x="1198000" y="1686975"/>
                    </a:lnTo>
                    <a:lnTo>
                      <a:pt x="1245400" y="1714343"/>
                    </a:lnTo>
                    <a:lnTo>
                      <a:pt x="1292800" y="1733390"/>
                    </a:lnTo>
                    <a:lnTo>
                      <a:pt x="1340200" y="1744247"/>
                    </a:lnTo>
                    <a:lnTo>
                      <a:pt x="1387600" y="1748591"/>
                    </a:lnTo>
                    <a:lnTo>
                      <a:pt x="1435000" y="1749172"/>
                    </a:lnTo>
                    <a:lnTo>
                      <a:pt x="1482400" y="1749102"/>
                    </a:lnTo>
                    <a:lnTo>
                      <a:pt x="1529800" y="1751132"/>
                    </a:lnTo>
                    <a:lnTo>
                      <a:pt x="1577200" y="1757044"/>
                    </a:lnTo>
                    <a:lnTo>
                      <a:pt x="1624600" y="1767337"/>
                    </a:lnTo>
                    <a:lnTo>
                      <a:pt x="1672000" y="1781222"/>
                    </a:lnTo>
                    <a:lnTo>
                      <a:pt x="1719400" y="1796933"/>
                    </a:lnTo>
                    <a:lnTo>
                      <a:pt x="1766800" y="1812237"/>
                    </a:lnTo>
                    <a:lnTo>
                      <a:pt x="1814200" y="1825012"/>
                    </a:lnTo>
                    <a:lnTo>
                      <a:pt x="1861600" y="1833760"/>
                    </a:lnTo>
                    <a:lnTo>
                      <a:pt x="1909000" y="1837924"/>
                    </a:lnTo>
                    <a:lnTo>
                      <a:pt x="1956400" y="1837961"/>
                    </a:lnTo>
                    <a:lnTo>
                      <a:pt x="2003800" y="1835166"/>
                    </a:lnTo>
                    <a:lnTo>
                      <a:pt x="2051200" y="1831310"/>
                    </a:lnTo>
                    <a:lnTo>
                      <a:pt x="2098600" y="1828197"/>
                    </a:lnTo>
                    <a:lnTo>
                      <a:pt x="2146000" y="1827236"/>
                    </a:lnTo>
                    <a:lnTo>
                      <a:pt x="2193400" y="1829151"/>
                    </a:lnTo>
                    <a:lnTo>
                      <a:pt x="2240800" y="1833866"/>
                    </a:lnTo>
                    <a:lnTo>
                      <a:pt x="2288200" y="1840591"/>
                    </a:lnTo>
                    <a:lnTo>
                      <a:pt x="2335600" y="1848068"/>
                    </a:lnTo>
                    <a:lnTo>
                      <a:pt x="2383000" y="1854913"/>
                    </a:lnTo>
                    <a:lnTo>
                      <a:pt x="2430400" y="1859955"/>
                    </a:lnTo>
                    <a:lnTo>
                      <a:pt x="2477800" y="1862500"/>
                    </a:lnTo>
                    <a:lnTo>
                      <a:pt x="2525200" y="1862468"/>
                    </a:lnTo>
                    <a:lnTo>
                      <a:pt x="2572600" y="1860361"/>
                    </a:lnTo>
                    <a:lnTo>
                      <a:pt x="2620000" y="185710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1" name="AffinityMatrix">
              <a:extLst>
                <a:ext uri="{FF2B5EF4-FFF2-40B4-BE49-F238E27FC236}">
                  <a16:creationId xmlns:a16="http://schemas.microsoft.com/office/drawing/2014/main" id="{0D3BEB9E-64C0-DBB3-9524-CA9C2CB0A5A9}"/>
                </a:ext>
              </a:extLst>
            </p:cNvPr>
            <p:cNvGrpSpPr/>
            <p:nvPr/>
          </p:nvGrpSpPr>
          <p:grpSpPr>
            <a:xfrm>
              <a:off x="4437956" y="4783642"/>
              <a:ext cx="507600" cy="507600"/>
              <a:chOff x="5798296" y="6137028"/>
              <a:chExt cx="864000" cy="864000"/>
            </a:xfrm>
          </p:grpSpPr>
          <p:sp>
            <p:nvSpPr>
              <p:cNvPr id="63" name="Cell_0_0">
                <a:extLst>
                  <a:ext uri="{FF2B5EF4-FFF2-40B4-BE49-F238E27FC236}">
                    <a16:creationId xmlns:a16="http://schemas.microsoft.com/office/drawing/2014/main" id="{0535F66A-DBD9-7BDE-4973-D65A43C3FFA8}"/>
                  </a:ext>
                </a:extLst>
              </p:cNvPr>
              <p:cNvSpPr/>
              <p:nvPr/>
            </p:nvSpPr>
            <p:spPr>
              <a:xfrm>
                <a:off x="5798296" y="6137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65" name="Cell_0_1">
                <a:extLst>
                  <a:ext uri="{FF2B5EF4-FFF2-40B4-BE49-F238E27FC236}">
                    <a16:creationId xmlns:a16="http://schemas.microsoft.com/office/drawing/2014/main" id="{14B17831-80B5-1728-9778-DEFF4A022F4E}"/>
                  </a:ext>
                </a:extLst>
              </p:cNvPr>
              <p:cNvSpPr/>
              <p:nvPr/>
            </p:nvSpPr>
            <p:spPr>
              <a:xfrm>
                <a:off x="5942296" y="6137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71" name="Cell_0_2">
                <a:extLst>
                  <a:ext uri="{FF2B5EF4-FFF2-40B4-BE49-F238E27FC236}">
                    <a16:creationId xmlns:a16="http://schemas.microsoft.com/office/drawing/2014/main" id="{7E914E69-5654-F673-DF27-5D05DBC9CCDF}"/>
                  </a:ext>
                </a:extLst>
              </p:cNvPr>
              <p:cNvSpPr/>
              <p:nvPr/>
            </p:nvSpPr>
            <p:spPr>
              <a:xfrm>
                <a:off x="6086296" y="6137028"/>
                <a:ext cx="144000" cy="144000"/>
              </a:xfrm>
              <a:prstGeom prst="rect">
                <a:avLst/>
              </a:prstGeom>
              <a:solidFill>
                <a:srgbClr val="C7DACF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75" name="Cell_0_3">
                <a:extLst>
                  <a:ext uri="{FF2B5EF4-FFF2-40B4-BE49-F238E27FC236}">
                    <a16:creationId xmlns:a16="http://schemas.microsoft.com/office/drawing/2014/main" id="{92C4C98C-5016-F482-437F-67E40009059A}"/>
                  </a:ext>
                </a:extLst>
              </p:cNvPr>
              <p:cNvSpPr/>
              <p:nvPr/>
            </p:nvSpPr>
            <p:spPr>
              <a:xfrm>
                <a:off x="6230296" y="6137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76" name="Cell_0_4">
                <a:extLst>
                  <a:ext uri="{FF2B5EF4-FFF2-40B4-BE49-F238E27FC236}">
                    <a16:creationId xmlns:a16="http://schemas.microsoft.com/office/drawing/2014/main" id="{D14D0DE5-8A68-B984-2A5D-6368AA2CCCBC}"/>
                  </a:ext>
                </a:extLst>
              </p:cNvPr>
              <p:cNvSpPr/>
              <p:nvPr/>
            </p:nvSpPr>
            <p:spPr>
              <a:xfrm>
                <a:off x="6374296" y="6137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1" name="Cell_0_5">
                <a:extLst>
                  <a:ext uri="{FF2B5EF4-FFF2-40B4-BE49-F238E27FC236}">
                    <a16:creationId xmlns:a16="http://schemas.microsoft.com/office/drawing/2014/main" id="{BA6864F4-59FA-6533-ADC7-725B8A502FE6}"/>
                  </a:ext>
                </a:extLst>
              </p:cNvPr>
              <p:cNvSpPr/>
              <p:nvPr/>
            </p:nvSpPr>
            <p:spPr>
              <a:xfrm>
                <a:off x="6518296" y="6137028"/>
                <a:ext cx="144000" cy="144000"/>
              </a:xfrm>
              <a:prstGeom prst="rect">
                <a:avLst/>
              </a:prstGeom>
              <a:solidFill>
                <a:srgbClr val="B0CAB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2" name="Cell_1_0">
                <a:extLst>
                  <a:ext uri="{FF2B5EF4-FFF2-40B4-BE49-F238E27FC236}">
                    <a16:creationId xmlns:a16="http://schemas.microsoft.com/office/drawing/2014/main" id="{4906D539-73F4-A078-66E9-D7C6304B00B2}"/>
                  </a:ext>
                </a:extLst>
              </p:cNvPr>
              <p:cNvSpPr/>
              <p:nvPr/>
            </p:nvSpPr>
            <p:spPr>
              <a:xfrm>
                <a:off x="5798296" y="6281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5" name="Cell_1_1">
                <a:extLst>
                  <a:ext uri="{FF2B5EF4-FFF2-40B4-BE49-F238E27FC236}">
                    <a16:creationId xmlns:a16="http://schemas.microsoft.com/office/drawing/2014/main" id="{842DFE51-CB99-F738-4E06-5FD4DEEF9F81}"/>
                  </a:ext>
                </a:extLst>
              </p:cNvPr>
              <p:cNvSpPr/>
              <p:nvPr/>
            </p:nvSpPr>
            <p:spPr>
              <a:xfrm>
                <a:off x="5942296" y="6281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6" name="Cell_1_2">
                <a:extLst>
                  <a:ext uri="{FF2B5EF4-FFF2-40B4-BE49-F238E27FC236}">
                    <a16:creationId xmlns:a16="http://schemas.microsoft.com/office/drawing/2014/main" id="{46640217-F47A-ED5A-0BBF-DB526A7937A1}"/>
                  </a:ext>
                </a:extLst>
              </p:cNvPr>
              <p:cNvSpPr/>
              <p:nvPr/>
            </p:nvSpPr>
            <p:spPr>
              <a:xfrm>
                <a:off x="6086296" y="6281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7" name="Cell_1_3">
                <a:extLst>
                  <a:ext uri="{FF2B5EF4-FFF2-40B4-BE49-F238E27FC236}">
                    <a16:creationId xmlns:a16="http://schemas.microsoft.com/office/drawing/2014/main" id="{F2875305-70B9-BF57-8CD5-B95E6EE82AA6}"/>
                  </a:ext>
                </a:extLst>
              </p:cNvPr>
              <p:cNvSpPr/>
              <p:nvPr/>
            </p:nvSpPr>
            <p:spPr>
              <a:xfrm>
                <a:off x="6230296" y="6281028"/>
                <a:ext cx="144000" cy="144000"/>
              </a:xfrm>
              <a:prstGeom prst="rect">
                <a:avLst/>
              </a:prstGeom>
              <a:solidFill>
                <a:srgbClr val="C0D6C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8" name="Cell_1_4">
                <a:extLst>
                  <a:ext uri="{FF2B5EF4-FFF2-40B4-BE49-F238E27FC236}">
                    <a16:creationId xmlns:a16="http://schemas.microsoft.com/office/drawing/2014/main" id="{74E9353C-5FA1-BDFC-9C5A-EE35E3F95119}"/>
                  </a:ext>
                </a:extLst>
              </p:cNvPr>
              <p:cNvSpPr/>
              <p:nvPr/>
            </p:nvSpPr>
            <p:spPr>
              <a:xfrm>
                <a:off x="6374296" y="6281028"/>
                <a:ext cx="144000" cy="144000"/>
              </a:xfrm>
              <a:prstGeom prst="rect">
                <a:avLst/>
              </a:prstGeom>
              <a:solidFill>
                <a:srgbClr val="95B8A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9" name="Cell_1_5">
                <a:extLst>
                  <a:ext uri="{FF2B5EF4-FFF2-40B4-BE49-F238E27FC236}">
                    <a16:creationId xmlns:a16="http://schemas.microsoft.com/office/drawing/2014/main" id="{C2DEB091-0BB3-4476-5A67-4DD1C36F149B}"/>
                  </a:ext>
                </a:extLst>
              </p:cNvPr>
              <p:cNvSpPr/>
              <p:nvPr/>
            </p:nvSpPr>
            <p:spPr>
              <a:xfrm>
                <a:off x="6518296" y="6281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32" name="Cell_2_0">
                <a:extLst>
                  <a:ext uri="{FF2B5EF4-FFF2-40B4-BE49-F238E27FC236}">
                    <a16:creationId xmlns:a16="http://schemas.microsoft.com/office/drawing/2014/main" id="{5A48AAD1-8B06-A7B5-A187-C1AA9CB9EC26}"/>
                  </a:ext>
                </a:extLst>
              </p:cNvPr>
              <p:cNvSpPr/>
              <p:nvPr/>
            </p:nvSpPr>
            <p:spPr>
              <a:xfrm>
                <a:off x="5798296" y="6425028"/>
                <a:ext cx="144000" cy="144000"/>
              </a:xfrm>
              <a:prstGeom prst="rect">
                <a:avLst/>
              </a:prstGeom>
              <a:solidFill>
                <a:srgbClr val="C7DACF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43" name="Cell_2_1">
                <a:extLst>
                  <a:ext uri="{FF2B5EF4-FFF2-40B4-BE49-F238E27FC236}">
                    <a16:creationId xmlns:a16="http://schemas.microsoft.com/office/drawing/2014/main" id="{2652F8BA-FF0E-E131-37A4-07FC9EACC31E}"/>
                  </a:ext>
                </a:extLst>
              </p:cNvPr>
              <p:cNvSpPr/>
              <p:nvPr/>
            </p:nvSpPr>
            <p:spPr>
              <a:xfrm>
                <a:off x="5942296" y="6425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46" name="Cell_2_2">
                <a:extLst>
                  <a:ext uri="{FF2B5EF4-FFF2-40B4-BE49-F238E27FC236}">
                    <a16:creationId xmlns:a16="http://schemas.microsoft.com/office/drawing/2014/main" id="{B249E7A4-3908-0EF8-EC2C-39F4D578826B}"/>
                  </a:ext>
                </a:extLst>
              </p:cNvPr>
              <p:cNvSpPr/>
              <p:nvPr/>
            </p:nvSpPr>
            <p:spPr>
              <a:xfrm>
                <a:off x="6086296" y="6425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47" name="Cell_2_3">
                <a:extLst>
                  <a:ext uri="{FF2B5EF4-FFF2-40B4-BE49-F238E27FC236}">
                    <a16:creationId xmlns:a16="http://schemas.microsoft.com/office/drawing/2014/main" id="{949B2045-833A-5470-7EEA-83715AFB51AB}"/>
                  </a:ext>
                </a:extLst>
              </p:cNvPr>
              <p:cNvSpPr/>
              <p:nvPr/>
            </p:nvSpPr>
            <p:spPr>
              <a:xfrm>
                <a:off x="6230296" y="6425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68" name="Cell_2_4">
                <a:extLst>
                  <a:ext uri="{FF2B5EF4-FFF2-40B4-BE49-F238E27FC236}">
                    <a16:creationId xmlns:a16="http://schemas.microsoft.com/office/drawing/2014/main" id="{9DB91086-8263-B561-DE0E-3C15CD21C644}"/>
                  </a:ext>
                </a:extLst>
              </p:cNvPr>
              <p:cNvSpPr/>
              <p:nvPr/>
            </p:nvSpPr>
            <p:spPr>
              <a:xfrm>
                <a:off x="6374296" y="6425028"/>
                <a:ext cx="144000" cy="144000"/>
              </a:xfrm>
              <a:prstGeom prst="rect">
                <a:avLst/>
              </a:prstGeom>
              <a:solidFill>
                <a:srgbClr val="D5E2D9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69" name="Cell_2_5">
                <a:extLst>
                  <a:ext uri="{FF2B5EF4-FFF2-40B4-BE49-F238E27FC236}">
                    <a16:creationId xmlns:a16="http://schemas.microsoft.com/office/drawing/2014/main" id="{8060A807-F75C-4ECC-5CA4-483A94567BAC}"/>
                  </a:ext>
                </a:extLst>
              </p:cNvPr>
              <p:cNvSpPr/>
              <p:nvPr/>
            </p:nvSpPr>
            <p:spPr>
              <a:xfrm>
                <a:off x="6518296" y="6425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70" name="Cell_3_0">
                <a:extLst>
                  <a:ext uri="{FF2B5EF4-FFF2-40B4-BE49-F238E27FC236}">
                    <a16:creationId xmlns:a16="http://schemas.microsoft.com/office/drawing/2014/main" id="{53E901FB-9587-0CED-02CF-590ED0806F65}"/>
                  </a:ext>
                </a:extLst>
              </p:cNvPr>
              <p:cNvSpPr/>
              <p:nvPr/>
            </p:nvSpPr>
            <p:spPr>
              <a:xfrm>
                <a:off x="5798296" y="6569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71" name="Cell_3_1">
                <a:extLst>
                  <a:ext uri="{FF2B5EF4-FFF2-40B4-BE49-F238E27FC236}">
                    <a16:creationId xmlns:a16="http://schemas.microsoft.com/office/drawing/2014/main" id="{DEAB30F8-866A-3A23-CE62-CE5F03703B35}"/>
                  </a:ext>
                </a:extLst>
              </p:cNvPr>
              <p:cNvSpPr/>
              <p:nvPr/>
            </p:nvSpPr>
            <p:spPr>
              <a:xfrm>
                <a:off x="5942296" y="6569028"/>
                <a:ext cx="144000" cy="144000"/>
              </a:xfrm>
              <a:prstGeom prst="rect">
                <a:avLst/>
              </a:prstGeom>
              <a:solidFill>
                <a:srgbClr val="C0D6C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72" name="Cell_3_2">
                <a:extLst>
                  <a:ext uri="{FF2B5EF4-FFF2-40B4-BE49-F238E27FC236}">
                    <a16:creationId xmlns:a16="http://schemas.microsoft.com/office/drawing/2014/main" id="{C13D57D2-8FDF-5ADA-3687-58393A93CAD2}"/>
                  </a:ext>
                </a:extLst>
              </p:cNvPr>
              <p:cNvSpPr/>
              <p:nvPr/>
            </p:nvSpPr>
            <p:spPr>
              <a:xfrm>
                <a:off x="6086296" y="6569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79" name="Cell_3_3">
                <a:extLst>
                  <a:ext uri="{FF2B5EF4-FFF2-40B4-BE49-F238E27FC236}">
                    <a16:creationId xmlns:a16="http://schemas.microsoft.com/office/drawing/2014/main" id="{A28DAC05-D801-8CA8-38B2-28847E3D6D73}"/>
                  </a:ext>
                </a:extLst>
              </p:cNvPr>
              <p:cNvSpPr/>
              <p:nvPr/>
            </p:nvSpPr>
            <p:spPr>
              <a:xfrm>
                <a:off x="6230296" y="6569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82" name="Cell_3_4">
                <a:extLst>
                  <a:ext uri="{FF2B5EF4-FFF2-40B4-BE49-F238E27FC236}">
                    <a16:creationId xmlns:a16="http://schemas.microsoft.com/office/drawing/2014/main" id="{A8B7F590-9286-EFDE-DB0B-259F9775A17C}"/>
                  </a:ext>
                </a:extLst>
              </p:cNvPr>
              <p:cNvSpPr/>
              <p:nvPr/>
            </p:nvSpPr>
            <p:spPr>
              <a:xfrm>
                <a:off x="6374296" y="6569028"/>
                <a:ext cx="144000" cy="144000"/>
              </a:xfrm>
              <a:prstGeom prst="rect">
                <a:avLst/>
              </a:prstGeom>
              <a:solidFill>
                <a:srgbClr val="82ACA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83" name="Cell_3_5">
                <a:extLst>
                  <a:ext uri="{FF2B5EF4-FFF2-40B4-BE49-F238E27FC236}">
                    <a16:creationId xmlns:a16="http://schemas.microsoft.com/office/drawing/2014/main" id="{4E0756EB-2A8B-8061-E450-4D59D9233311}"/>
                  </a:ext>
                </a:extLst>
              </p:cNvPr>
              <p:cNvSpPr/>
              <p:nvPr/>
            </p:nvSpPr>
            <p:spPr>
              <a:xfrm>
                <a:off x="6518296" y="6569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84" name="Cell_4_0">
                <a:extLst>
                  <a:ext uri="{FF2B5EF4-FFF2-40B4-BE49-F238E27FC236}">
                    <a16:creationId xmlns:a16="http://schemas.microsoft.com/office/drawing/2014/main" id="{B4BAE6FC-5B5F-DEE5-7A24-F42EDB226DED}"/>
                  </a:ext>
                </a:extLst>
              </p:cNvPr>
              <p:cNvSpPr/>
              <p:nvPr/>
            </p:nvSpPr>
            <p:spPr>
              <a:xfrm>
                <a:off x="5798296" y="6713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85" name="Cell_4_1">
                <a:extLst>
                  <a:ext uri="{FF2B5EF4-FFF2-40B4-BE49-F238E27FC236}">
                    <a16:creationId xmlns:a16="http://schemas.microsoft.com/office/drawing/2014/main" id="{655E9CD8-182C-9740-377C-FF78FEA2F7D9}"/>
                  </a:ext>
                </a:extLst>
              </p:cNvPr>
              <p:cNvSpPr/>
              <p:nvPr/>
            </p:nvSpPr>
            <p:spPr>
              <a:xfrm>
                <a:off x="5942296" y="6713028"/>
                <a:ext cx="144000" cy="144000"/>
              </a:xfrm>
              <a:prstGeom prst="rect">
                <a:avLst/>
              </a:prstGeom>
              <a:solidFill>
                <a:srgbClr val="95B8A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0" name="Cell_4_2">
                <a:extLst>
                  <a:ext uri="{FF2B5EF4-FFF2-40B4-BE49-F238E27FC236}">
                    <a16:creationId xmlns:a16="http://schemas.microsoft.com/office/drawing/2014/main" id="{527391A7-F90A-7C71-06A4-475BCB70713C}"/>
                  </a:ext>
                </a:extLst>
              </p:cNvPr>
              <p:cNvSpPr/>
              <p:nvPr/>
            </p:nvSpPr>
            <p:spPr>
              <a:xfrm>
                <a:off x="6086296" y="6713028"/>
                <a:ext cx="144000" cy="144000"/>
              </a:xfrm>
              <a:prstGeom prst="rect">
                <a:avLst/>
              </a:prstGeom>
              <a:solidFill>
                <a:srgbClr val="D5E2D9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1" name="Cell_4_3">
                <a:extLst>
                  <a:ext uri="{FF2B5EF4-FFF2-40B4-BE49-F238E27FC236}">
                    <a16:creationId xmlns:a16="http://schemas.microsoft.com/office/drawing/2014/main" id="{2B8AD945-EFEA-5FE7-2E71-4060CB425A5F}"/>
                  </a:ext>
                </a:extLst>
              </p:cNvPr>
              <p:cNvSpPr/>
              <p:nvPr/>
            </p:nvSpPr>
            <p:spPr>
              <a:xfrm>
                <a:off x="6230296" y="6713028"/>
                <a:ext cx="144000" cy="144000"/>
              </a:xfrm>
              <a:prstGeom prst="rect">
                <a:avLst/>
              </a:prstGeom>
              <a:solidFill>
                <a:srgbClr val="82ACA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2" name="Cell_4_4">
                <a:extLst>
                  <a:ext uri="{FF2B5EF4-FFF2-40B4-BE49-F238E27FC236}">
                    <a16:creationId xmlns:a16="http://schemas.microsoft.com/office/drawing/2014/main" id="{9FAD8195-C49C-5836-596C-9518719B089A}"/>
                  </a:ext>
                </a:extLst>
              </p:cNvPr>
              <p:cNvSpPr/>
              <p:nvPr/>
            </p:nvSpPr>
            <p:spPr>
              <a:xfrm>
                <a:off x="6374296" y="6713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3" name="Cell_4_5">
                <a:extLst>
                  <a:ext uri="{FF2B5EF4-FFF2-40B4-BE49-F238E27FC236}">
                    <a16:creationId xmlns:a16="http://schemas.microsoft.com/office/drawing/2014/main" id="{AE82E288-67BF-2069-C724-A6450F9E7558}"/>
                  </a:ext>
                </a:extLst>
              </p:cNvPr>
              <p:cNvSpPr/>
              <p:nvPr/>
            </p:nvSpPr>
            <p:spPr>
              <a:xfrm>
                <a:off x="6518296" y="6713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4" name="Cell_5_0">
                <a:extLst>
                  <a:ext uri="{FF2B5EF4-FFF2-40B4-BE49-F238E27FC236}">
                    <a16:creationId xmlns:a16="http://schemas.microsoft.com/office/drawing/2014/main" id="{FD8B234E-B06D-0945-8EE4-FF7F13ACBAB6}"/>
                  </a:ext>
                </a:extLst>
              </p:cNvPr>
              <p:cNvSpPr/>
              <p:nvPr/>
            </p:nvSpPr>
            <p:spPr>
              <a:xfrm>
                <a:off x="5798296" y="6857028"/>
                <a:ext cx="144000" cy="144000"/>
              </a:xfrm>
              <a:prstGeom prst="rect">
                <a:avLst/>
              </a:prstGeom>
              <a:solidFill>
                <a:srgbClr val="B0CAB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5" name="Cell_5_1">
                <a:extLst>
                  <a:ext uri="{FF2B5EF4-FFF2-40B4-BE49-F238E27FC236}">
                    <a16:creationId xmlns:a16="http://schemas.microsoft.com/office/drawing/2014/main" id="{1A2B3A80-6AFD-67E2-1EE1-F5E2B540B2FF}"/>
                  </a:ext>
                </a:extLst>
              </p:cNvPr>
              <p:cNvSpPr/>
              <p:nvPr/>
            </p:nvSpPr>
            <p:spPr>
              <a:xfrm>
                <a:off x="5942296" y="6857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8" name="Cell_5_2">
                <a:extLst>
                  <a:ext uri="{FF2B5EF4-FFF2-40B4-BE49-F238E27FC236}">
                    <a16:creationId xmlns:a16="http://schemas.microsoft.com/office/drawing/2014/main" id="{2004F259-970D-33AC-1DDF-0D8DE9ACA5BE}"/>
                  </a:ext>
                </a:extLst>
              </p:cNvPr>
              <p:cNvSpPr/>
              <p:nvPr/>
            </p:nvSpPr>
            <p:spPr>
              <a:xfrm>
                <a:off x="6086296" y="6857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9" name="Cell_5_3">
                <a:extLst>
                  <a:ext uri="{FF2B5EF4-FFF2-40B4-BE49-F238E27FC236}">
                    <a16:creationId xmlns:a16="http://schemas.microsoft.com/office/drawing/2014/main" id="{3117BBD0-743B-FAD6-D353-FFE5F363DF9C}"/>
                  </a:ext>
                </a:extLst>
              </p:cNvPr>
              <p:cNvSpPr/>
              <p:nvPr/>
            </p:nvSpPr>
            <p:spPr>
              <a:xfrm>
                <a:off x="6230296" y="6857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200" name="Cell_5_4">
                <a:extLst>
                  <a:ext uri="{FF2B5EF4-FFF2-40B4-BE49-F238E27FC236}">
                    <a16:creationId xmlns:a16="http://schemas.microsoft.com/office/drawing/2014/main" id="{9FC60CFE-8FAB-2BBE-2188-7F15B6557771}"/>
                  </a:ext>
                </a:extLst>
              </p:cNvPr>
              <p:cNvSpPr/>
              <p:nvPr/>
            </p:nvSpPr>
            <p:spPr>
              <a:xfrm>
                <a:off x="6374296" y="6857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201" name="Cell_5_5">
                <a:extLst>
                  <a:ext uri="{FF2B5EF4-FFF2-40B4-BE49-F238E27FC236}">
                    <a16:creationId xmlns:a16="http://schemas.microsoft.com/office/drawing/2014/main" id="{D471ED82-0926-CF5F-D621-D5B9C5F2433C}"/>
                  </a:ext>
                </a:extLst>
              </p:cNvPr>
              <p:cNvSpPr/>
              <p:nvPr/>
            </p:nvSpPr>
            <p:spPr>
              <a:xfrm>
                <a:off x="6518296" y="6857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</p:grpSp>
        <p:cxnSp>
          <p:nvCxnSpPr>
            <p:cNvPr id="203" name="曲线连接符 202">
              <a:extLst>
                <a:ext uri="{FF2B5EF4-FFF2-40B4-BE49-F238E27FC236}">
                  <a16:creationId xmlns:a16="http://schemas.microsoft.com/office/drawing/2014/main" id="{5C3A66C8-99DC-0AEF-8212-5102EE1FAF57}"/>
                </a:ext>
              </a:extLst>
            </p:cNvPr>
            <p:cNvCxnSpPr>
              <a:stCxn id="131" idx="3"/>
              <a:endCxn id="145" idx="3"/>
            </p:cNvCxnSpPr>
            <p:nvPr/>
          </p:nvCxnSpPr>
          <p:spPr>
            <a:xfrm>
              <a:off x="4835733" y="4129885"/>
              <a:ext cx="63088" cy="380977"/>
            </a:xfrm>
            <a:prstGeom prst="curvedConnector3">
              <a:avLst>
                <a:gd name="adj1" fmla="val 462351"/>
              </a:avLst>
            </a:prstGeom>
            <a:ln w="33020">
              <a:solidFill>
                <a:srgbClr val="587E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曲线连接符 203">
              <a:extLst>
                <a:ext uri="{FF2B5EF4-FFF2-40B4-BE49-F238E27FC236}">
                  <a16:creationId xmlns:a16="http://schemas.microsoft.com/office/drawing/2014/main" id="{4097A403-CF99-3D65-CD40-23DFD57ABE32}"/>
                </a:ext>
              </a:extLst>
            </p:cNvPr>
            <p:cNvCxnSpPr>
              <a:cxnSpLocks/>
              <a:stCxn id="145" idx="3"/>
              <a:endCxn id="183" idx="3"/>
            </p:cNvCxnSpPr>
            <p:nvPr/>
          </p:nvCxnSpPr>
          <p:spPr>
            <a:xfrm>
              <a:off x="4898821" y="4510862"/>
              <a:ext cx="46735" cy="568880"/>
            </a:xfrm>
            <a:prstGeom prst="curvedConnector3">
              <a:avLst>
                <a:gd name="adj1" fmla="val 589141"/>
              </a:avLst>
            </a:prstGeom>
            <a:ln w="33020">
              <a:solidFill>
                <a:srgbClr val="587E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85">
              <a:extLst>
                <a:ext uri="{FF2B5EF4-FFF2-40B4-BE49-F238E27FC236}">
                  <a16:creationId xmlns:a16="http://schemas.microsoft.com/office/drawing/2014/main" id="{9B03DD1C-AFBD-94EA-8B87-51B379B41B56}"/>
                </a:ext>
              </a:extLst>
            </p:cNvPr>
            <p:cNvSpPr txBox="1"/>
            <p:nvPr/>
          </p:nvSpPr>
          <p:spPr>
            <a:xfrm>
              <a:off x="5072556" y="4170066"/>
              <a:ext cx="615087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IF</a:t>
              </a:r>
              <a:r>
                <a:rPr lang="zh-CN" altLang="en-US"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altLang="zh-CN"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sz="1000" b="0" i="0" dirty="0">
                <a:solidFill>
                  <a:srgbClr val="36363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5" name="TextBox 85">
              <a:extLst>
                <a:ext uri="{FF2B5EF4-FFF2-40B4-BE49-F238E27FC236}">
                  <a16:creationId xmlns:a16="http://schemas.microsoft.com/office/drawing/2014/main" id="{9B90690E-5CAC-DDF6-1574-477E50D50985}"/>
                </a:ext>
              </a:extLst>
            </p:cNvPr>
            <p:cNvSpPr txBox="1"/>
            <p:nvPr/>
          </p:nvSpPr>
          <p:spPr>
            <a:xfrm>
              <a:off x="5064431" y="4717237"/>
              <a:ext cx="615087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IF</a:t>
              </a:r>
              <a:r>
                <a:rPr lang="zh-CN" altLang="en-US"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altLang="zh-CN"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sz="1000" b="0" i="0" dirty="0">
                <a:solidFill>
                  <a:srgbClr val="36363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8" name="肘形连接符 217">
              <a:extLst>
                <a:ext uri="{FF2B5EF4-FFF2-40B4-BE49-F238E27FC236}">
                  <a16:creationId xmlns:a16="http://schemas.microsoft.com/office/drawing/2014/main" id="{8D11DC90-6B98-638C-C169-8DC0ABC32763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rot="16200000" flipH="1">
              <a:off x="3692226" y="3051172"/>
              <a:ext cx="394727" cy="4911155"/>
            </a:xfrm>
            <a:prstGeom prst="bentConnector2">
              <a:avLst/>
            </a:prstGeom>
            <a:ln w="33020">
              <a:solidFill>
                <a:srgbClr val="587E9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0" name="SFTLossChart">
              <a:extLst>
                <a:ext uri="{FF2B5EF4-FFF2-40B4-BE49-F238E27FC236}">
                  <a16:creationId xmlns:a16="http://schemas.microsoft.com/office/drawing/2014/main" id="{07B3E39C-75AB-D27C-6744-B3441A0E145B}"/>
                </a:ext>
              </a:extLst>
            </p:cNvPr>
            <p:cNvGrpSpPr/>
            <p:nvPr/>
          </p:nvGrpSpPr>
          <p:grpSpPr>
            <a:xfrm>
              <a:off x="9735531" y="3717973"/>
              <a:ext cx="863947" cy="467374"/>
              <a:chOff x="0" y="0"/>
              <a:chExt cx="2700000" cy="2200000"/>
            </a:xfrm>
          </p:grpSpPr>
          <p:sp>
            <p:nvSpPr>
              <p:cNvPr id="221" name="SFTLossChart_YAxis">
                <a:extLst>
                  <a:ext uri="{FF2B5EF4-FFF2-40B4-BE49-F238E27FC236}">
                    <a16:creationId xmlns:a16="http://schemas.microsoft.com/office/drawing/2014/main" id="{C6A5189C-130D-666A-CBFA-255A903B3F23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1950000"/>
                    </a:moveTo>
                    <a:lnTo>
                      <a:pt x="250000" y="140000"/>
                    </a:lnTo>
                    <a:moveTo>
                      <a:pt x="205000" y="230000"/>
                    </a:moveTo>
                    <a:lnTo>
                      <a:pt x="250000" y="140000"/>
                    </a:lnTo>
                    <a:lnTo>
                      <a:pt x="295000" y="230000"/>
                    </a:lnTo>
                    <a:moveTo>
                      <a:pt x="250000" y="1512500"/>
                    </a:moveTo>
                    <a:lnTo>
                      <a:pt x="210000" y="1512500"/>
                    </a:lnTo>
                    <a:moveTo>
                      <a:pt x="250000" y="1075000"/>
                    </a:moveTo>
                    <a:lnTo>
                      <a:pt x="210000" y="1075000"/>
                    </a:lnTo>
                    <a:moveTo>
                      <a:pt x="250000" y="637500"/>
                    </a:moveTo>
                    <a:lnTo>
                      <a:pt x="210000" y="63750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SFTLossChart_XAxis">
                <a:extLst>
                  <a:ext uri="{FF2B5EF4-FFF2-40B4-BE49-F238E27FC236}">
                    <a16:creationId xmlns:a16="http://schemas.microsoft.com/office/drawing/2014/main" id="{56980523-24B5-2258-366F-51695ACDC855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1950000"/>
                    </a:moveTo>
                    <a:lnTo>
                      <a:pt x="2680000" y="1950000"/>
                    </a:lnTo>
                    <a:moveTo>
                      <a:pt x="2590000" y="1905000"/>
                    </a:moveTo>
                    <a:lnTo>
                      <a:pt x="2680000" y="1950000"/>
                    </a:lnTo>
                    <a:lnTo>
                      <a:pt x="2590000" y="1995000"/>
                    </a:lnTo>
                    <a:moveTo>
                      <a:pt x="842500" y="1950000"/>
                    </a:moveTo>
                    <a:lnTo>
                      <a:pt x="842500" y="1990000"/>
                    </a:lnTo>
                    <a:moveTo>
                      <a:pt x="1435000" y="1950000"/>
                    </a:moveTo>
                    <a:lnTo>
                      <a:pt x="1435000" y="1990000"/>
                    </a:lnTo>
                    <a:moveTo>
                      <a:pt x="2027500" y="1950000"/>
                    </a:moveTo>
                    <a:lnTo>
                      <a:pt x="2027500" y="1990000"/>
                    </a:lnTo>
                    <a:moveTo>
                      <a:pt x="2620000" y="1950000"/>
                    </a:moveTo>
                    <a:lnTo>
                      <a:pt x="2620000" y="199000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SFTLossChart_Curve">
                <a:extLst>
                  <a:ext uri="{FF2B5EF4-FFF2-40B4-BE49-F238E27FC236}">
                    <a16:creationId xmlns:a16="http://schemas.microsoft.com/office/drawing/2014/main" id="{FFCA7C19-4144-EDD6-A2C1-A7FF7DBAAE24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427500"/>
                    </a:moveTo>
                    <a:lnTo>
                      <a:pt x="297400" y="525392"/>
                    </a:lnTo>
                    <a:lnTo>
                      <a:pt x="344800" y="616830"/>
                    </a:lnTo>
                    <a:lnTo>
                      <a:pt x="392200" y="704232"/>
                    </a:lnTo>
                    <a:lnTo>
                      <a:pt x="439600" y="789358"/>
                    </a:lnTo>
                    <a:lnTo>
                      <a:pt x="487000" y="873130"/>
                    </a:lnTo>
                    <a:lnTo>
                      <a:pt x="534400" y="955581"/>
                    </a:lnTo>
                    <a:lnTo>
                      <a:pt x="581800" y="1035930"/>
                    </a:lnTo>
                    <a:lnTo>
                      <a:pt x="629200" y="1112791"/>
                    </a:lnTo>
                    <a:lnTo>
                      <a:pt x="676600" y="1184458"/>
                    </a:lnTo>
                    <a:lnTo>
                      <a:pt x="724000" y="1249244"/>
                    </a:lnTo>
                    <a:lnTo>
                      <a:pt x="771400" y="1305806"/>
                    </a:lnTo>
                    <a:lnTo>
                      <a:pt x="818800" y="1353419"/>
                    </a:lnTo>
                    <a:lnTo>
                      <a:pt x="866200" y="1392139"/>
                    </a:lnTo>
                    <a:lnTo>
                      <a:pt x="913600" y="1422843"/>
                    </a:lnTo>
                    <a:lnTo>
                      <a:pt x="961000" y="1447138"/>
                    </a:lnTo>
                    <a:lnTo>
                      <a:pt x="1008400" y="1467144"/>
                    </a:lnTo>
                    <a:lnTo>
                      <a:pt x="1055800" y="1485202"/>
                    </a:lnTo>
                    <a:lnTo>
                      <a:pt x="1103200" y="1503538"/>
                    </a:lnTo>
                    <a:lnTo>
                      <a:pt x="1150600" y="1523943"/>
                    </a:lnTo>
                    <a:lnTo>
                      <a:pt x="1198000" y="1547520"/>
                    </a:lnTo>
                    <a:lnTo>
                      <a:pt x="1245400" y="1574542"/>
                    </a:lnTo>
                    <a:lnTo>
                      <a:pt x="1292800" y="1604427"/>
                    </a:lnTo>
                    <a:lnTo>
                      <a:pt x="1340200" y="1635861"/>
                    </a:lnTo>
                    <a:lnTo>
                      <a:pt x="1387600" y="1667021"/>
                    </a:lnTo>
                    <a:lnTo>
                      <a:pt x="1435000" y="1695889"/>
                    </a:lnTo>
                    <a:lnTo>
                      <a:pt x="1482400" y="1720582"/>
                    </a:lnTo>
                    <a:lnTo>
                      <a:pt x="1529800" y="1739674"/>
                    </a:lnTo>
                    <a:lnTo>
                      <a:pt x="1577200" y="1752431"/>
                    </a:lnTo>
                    <a:lnTo>
                      <a:pt x="1624600" y="1758945"/>
                    </a:lnTo>
                    <a:lnTo>
                      <a:pt x="1672000" y="1760131"/>
                    </a:lnTo>
                    <a:lnTo>
                      <a:pt x="1719400" y="1757595"/>
                    </a:lnTo>
                    <a:lnTo>
                      <a:pt x="1766800" y="1753395"/>
                    </a:lnTo>
                    <a:lnTo>
                      <a:pt x="1814200" y="1749723"/>
                    </a:lnTo>
                    <a:lnTo>
                      <a:pt x="1861600" y="1748570"/>
                    </a:lnTo>
                    <a:lnTo>
                      <a:pt x="1909000" y="1751420"/>
                    </a:lnTo>
                    <a:lnTo>
                      <a:pt x="1956400" y="1759027"/>
                    </a:lnTo>
                    <a:lnTo>
                      <a:pt x="2003800" y="1771300"/>
                    </a:lnTo>
                    <a:lnTo>
                      <a:pt x="2051200" y="1787325"/>
                    </a:lnTo>
                    <a:lnTo>
                      <a:pt x="2098600" y="1805520"/>
                    </a:lnTo>
                    <a:lnTo>
                      <a:pt x="2146000" y="1823885"/>
                    </a:lnTo>
                    <a:lnTo>
                      <a:pt x="2193400" y="1840326"/>
                    </a:lnTo>
                    <a:lnTo>
                      <a:pt x="2240800" y="1852992"/>
                    </a:lnTo>
                    <a:lnTo>
                      <a:pt x="2288200" y="1860571"/>
                    </a:lnTo>
                    <a:lnTo>
                      <a:pt x="2335600" y="1862500"/>
                    </a:lnTo>
                    <a:lnTo>
                      <a:pt x="2383000" y="1859061"/>
                    </a:lnTo>
                    <a:lnTo>
                      <a:pt x="2430400" y="1851335"/>
                    </a:lnTo>
                    <a:lnTo>
                      <a:pt x="2477800" y="1841043"/>
                    </a:lnTo>
                    <a:lnTo>
                      <a:pt x="2525200" y="1830269"/>
                    </a:lnTo>
                    <a:lnTo>
                      <a:pt x="2572600" y="1821139"/>
                    </a:lnTo>
                    <a:lnTo>
                      <a:pt x="2620000" y="181548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61779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ib"/>
          <p:cNvSpPr/>
          <p:nvPr/>
        </p:nvSpPr>
        <p:spPr>
          <a:xfrm>
            <a:off x="1828800" y="5074920"/>
            <a:ext cx="8503920" cy="411480"/>
          </a:xfrm>
          <a:prstGeom prst="roundRect">
            <a:avLst>
              <a:gd name="adj" fmla="val 8000"/>
            </a:avLst>
          </a:prstGeom>
          <a:solidFill>
            <a:srgbClr val="F5EDD0"/>
          </a:solidFill>
          <a:ln w="25400">
            <a:solidFill>
              <a:srgbClr val="D4A843"/>
            </a:solidFill>
            <a:prstDash val="dash"/>
            <a:round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62" name="it"/>
          <p:cNvSpPr txBox="1"/>
          <p:nvPr/>
        </p:nvSpPr>
        <p:spPr>
          <a:xfrm>
            <a:off x="1920240" y="5074920"/>
            <a:ext cx="8321040" cy="41148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/>
            <a:r>
              <a:rPr lang="en-US" sz="900" b="1" i="1" dirty="0">
                <a:solidFill>
                  <a:srgbClr val="6B5000"/>
                </a:solidFill>
                <a:latin typeface="Times New Roman"/>
              </a:rPr>
              <a:t>Key Insight: In cultural reasoning, epistemic authority should override numerical majority.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43E54F1-3D00-F4B7-E967-F002BCBF2FA0}"/>
              </a:ext>
            </a:extLst>
          </p:cNvPr>
          <p:cNvGrpSpPr/>
          <p:nvPr/>
        </p:nvGrpSpPr>
        <p:grpSpPr>
          <a:xfrm>
            <a:off x="990073" y="382991"/>
            <a:ext cx="9345180" cy="4037533"/>
            <a:chOff x="990073" y="382991"/>
            <a:chExt cx="9345180" cy="4037533"/>
          </a:xfrm>
        </p:grpSpPr>
        <p:sp>
          <p:nvSpPr>
            <p:cNvPr id="103" name="qbg"/>
            <p:cNvSpPr/>
            <p:nvPr/>
          </p:nvSpPr>
          <p:spPr>
            <a:xfrm>
              <a:off x="1578429" y="384048"/>
              <a:ext cx="8662851" cy="530352"/>
            </a:xfrm>
            <a:prstGeom prst="roundRect">
              <a:avLst>
                <a:gd name="adj" fmla="val 10000"/>
              </a:avLst>
            </a:prstGeom>
            <a:solidFill>
              <a:srgbClr val="F6DC96">
                <a:alpha val="15294"/>
              </a:srgbClr>
            </a:solidFill>
            <a:ln w="19050">
              <a:noFill/>
              <a:round/>
            </a:ln>
          </p:spPr>
          <p:txBody>
            <a:bodyPr wrap="square" lIns="36000" tIns="18000" rIns="36000" bIns="18000" anchor="ctr"/>
            <a:lstStyle/>
            <a:p>
              <a:r>
                <a:rPr lang="en-US" altLang="zh-CN" sz="1400" b="1" i="1" dirty="0">
                  <a:solidFill>
                    <a:srgbClr val="3D5050"/>
                  </a:solidFill>
                  <a:latin typeface="Times New Roman"/>
                </a:rPr>
                <a:t>Question: At a dinner in South Korea, Daniel noticed his glass was empty.</a:t>
              </a:r>
            </a:p>
            <a:p>
              <a:r>
                <a:rPr lang="en-US" altLang="zh-CN" sz="1400" b="1" i="1" dirty="0">
                  <a:solidFill>
                    <a:srgbClr val="3D5050"/>
                  </a:solidFill>
                  <a:latin typeface="Times New Roman"/>
                </a:rPr>
                <a:t>He picked up the bottle and filled his own glass first, then offered to pour</a:t>
              </a:r>
              <a:r>
                <a:rPr lang="zh-CN" altLang="en-US" sz="1400" b="1" i="1" dirty="0">
                  <a:solidFill>
                    <a:srgbClr val="3D5050"/>
                  </a:solidFill>
                  <a:latin typeface="Times New Roman"/>
                </a:rPr>
                <a:t> </a:t>
              </a:r>
              <a:r>
                <a:rPr lang="en-US" altLang="zh-CN" sz="1400" b="1" i="1" dirty="0">
                  <a:solidFill>
                    <a:srgbClr val="3D5050"/>
                  </a:solidFill>
                  <a:latin typeface="Times New Roman"/>
                </a:rPr>
                <a:t>for Emily, who was sitting next to him with an empty glass. Is this acceptable?</a:t>
              </a:r>
            </a:p>
          </p:txBody>
        </p:sp>
        <p:sp>
          <p:nvSpPr>
            <p:cNvPr id="105" name="gtl"/>
            <p:cNvSpPr txBox="1"/>
            <p:nvPr/>
          </p:nvSpPr>
          <p:spPr>
            <a:xfrm>
              <a:off x="5621378" y="768967"/>
              <a:ext cx="4114800" cy="182880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r"/>
              <a:r>
                <a:rPr lang="en-US" sz="1050" b="1" dirty="0">
                  <a:solidFill>
                    <a:srgbClr val="C0392B"/>
                  </a:solidFill>
                  <a:latin typeface="Times New Roman"/>
                </a:rPr>
                <a:t>Ground Truth: Unacceptable (2)</a:t>
              </a:r>
            </a:p>
          </p:txBody>
        </p:sp>
        <p:sp>
          <p:nvSpPr>
            <p:cNvPr id="106" name="lp"/>
            <p:cNvSpPr/>
            <p:nvPr/>
          </p:nvSpPr>
          <p:spPr>
            <a:xfrm>
              <a:off x="1012372" y="1025431"/>
              <a:ext cx="4271992" cy="3395093"/>
            </a:xfrm>
            <a:prstGeom prst="roundRect">
              <a:avLst>
                <a:gd name="adj" fmla="val 5000"/>
              </a:avLst>
            </a:prstGeom>
            <a:solidFill>
              <a:srgbClr val="DAEAF6"/>
            </a:solidFill>
            <a:ln w="19050">
              <a:solidFill>
                <a:srgbClr val="8AACC8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lh"/>
            <p:cNvSpPr txBox="1"/>
            <p:nvPr/>
          </p:nvSpPr>
          <p:spPr>
            <a:xfrm>
              <a:off x="1104683" y="1052863"/>
              <a:ext cx="3200400" cy="237744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400" b="1" dirty="0">
                  <a:solidFill>
                    <a:srgbClr val="3D55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Equal-Weight Debate</a:t>
              </a:r>
            </a:p>
          </p:txBody>
        </p:sp>
        <p:sp>
          <p:nvSpPr>
            <p:cNvPr id="108" name="la0"/>
            <p:cNvSpPr/>
            <p:nvPr/>
          </p:nvSpPr>
          <p:spPr>
            <a:xfrm>
              <a:off x="1322834" y="1354615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lt0"/>
            <p:cNvSpPr txBox="1"/>
            <p:nvPr/>
          </p:nvSpPr>
          <p:spPr>
            <a:xfrm>
              <a:off x="1368554" y="1354615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Western Agent: 1 (Acceptable)</a:t>
              </a:r>
            </a:p>
          </p:txBody>
        </p:sp>
        <p:sp>
          <p:nvSpPr>
            <p:cNvPr id="110" name="ln0"/>
            <p:cNvSpPr txBox="1"/>
            <p:nvPr/>
          </p:nvSpPr>
          <p:spPr>
            <a:xfrm>
              <a:off x="3564420" y="1354615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self-service behavior</a:t>
              </a:r>
            </a:p>
          </p:txBody>
        </p:sp>
        <p:sp>
          <p:nvSpPr>
            <p:cNvPr id="111" name="la1"/>
            <p:cNvSpPr/>
            <p:nvPr/>
          </p:nvSpPr>
          <p:spPr>
            <a:xfrm>
              <a:off x="1322834" y="1706659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lt1"/>
            <p:cNvSpPr txBox="1"/>
            <p:nvPr/>
          </p:nvSpPr>
          <p:spPr>
            <a:xfrm>
              <a:off x="1368554" y="1706659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LatAm Agent: 1 (Acceptable)</a:t>
              </a:r>
            </a:p>
          </p:txBody>
        </p:sp>
        <p:sp>
          <p:nvSpPr>
            <p:cNvPr id="113" name="ln1"/>
            <p:cNvSpPr txBox="1"/>
            <p:nvPr/>
          </p:nvSpPr>
          <p:spPr>
            <a:xfrm>
              <a:off x="3564420" y="1706659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pouring order required</a:t>
              </a:r>
            </a:p>
          </p:txBody>
        </p:sp>
        <p:sp>
          <p:nvSpPr>
            <p:cNvPr id="114" name="la2"/>
            <p:cNvSpPr/>
            <p:nvPr/>
          </p:nvSpPr>
          <p:spPr>
            <a:xfrm>
              <a:off x="1322834" y="2058703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lt2"/>
            <p:cNvSpPr txBox="1"/>
            <p:nvPr/>
          </p:nvSpPr>
          <p:spPr>
            <a:xfrm>
              <a:off x="1368554" y="2058703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African Agent: 1 (Acceptable)</a:t>
              </a:r>
            </a:p>
          </p:txBody>
        </p:sp>
        <p:sp>
          <p:nvSpPr>
            <p:cNvPr id="116" name="ln2"/>
            <p:cNvSpPr txBox="1"/>
            <p:nvPr/>
          </p:nvSpPr>
          <p:spPr>
            <a:xfrm>
              <a:off x="3564420" y="2058703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Common casual behavior</a:t>
              </a:r>
            </a:p>
          </p:txBody>
        </p:sp>
        <p:sp>
          <p:nvSpPr>
            <p:cNvPr id="117" name="la3"/>
            <p:cNvSpPr/>
            <p:nvPr/>
          </p:nvSpPr>
          <p:spPr>
            <a:xfrm>
              <a:off x="1322834" y="2410747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lt3"/>
            <p:cNvSpPr txBox="1"/>
            <p:nvPr/>
          </p:nvSpPr>
          <p:spPr>
            <a:xfrm>
              <a:off x="1368554" y="2410747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Islamic Agent: 1 (Acceptable)</a:t>
              </a:r>
            </a:p>
          </p:txBody>
        </p:sp>
        <p:sp>
          <p:nvSpPr>
            <p:cNvPr id="119" name="ln3"/>
            <p:cNvSpPr txBox="1"/>
            <p:nvPr/>
          </p:nvSpPr>
          <p:spPr>
            <a:xfrm>
              <a:off x="3564420" y="2410747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specific prohibition</a:t>
              </a:r>
            </a:p>
          </p:txBody>
        </p:sp>
        <p:sp>
          <p:nvSpPr>
            <p:cNvPr id="120" name="la4"/>
            <p:cNvSpPr/>
            <p:nvPr/>
          </p:nvSpPr>
          <p:spPr>
            <a:xfrm>
              <a:off x="1322834" y="2762791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lt4"/>
            <p:cNvSpPr txBox="1"/>
            <p:nvPr/>
          </p:nvSpPr>
          <p:spPr>
            <a:xfrm>
              <a:off x="1368554" y="2762791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SouthAsian Agent: 1 (Acceptable)</a:t>
              </a:r>
            </a:p>
          </p:txBody>
        </p:sp>
        <p:sp>
          <p:nvSpPr>
            <p:cNvPr id="122" name="ln4"/>
            <p:cNvSpPr txBox="1"/>
            <p:nvPr/>
          </p:nvSpPr>
          <p:spPr>
            <a:xfrm>
              <a:off x="3564420" y="2762791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Self-serving is acceptable</a:t>
              </a:r>
            </a:p>
          </p:txBody>
        </p:sp>
        <p:sp>
          <p:nvSpPr>
            <p:cNvPr id="123" name="la5"/>
            <p:cNvSpPr/>
            <p:nvPr/>
          </p:nvSpPr>
          <p:spPr>
            <a:xfrm>
              <a:off x="1322834" y="3114835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EDADAB"/>
            </a:solidFill>
            <a:ln w="12700">
              <a:solidFill>
                <a:srgbClr val="D4918F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lt5"/>
            <p:cNvSpPr txBox="1"/>
            <p:nvPr/>
          </p:nvSpPr>
          <p:spPr>
            <a:xfrm>
              <a:off x="1368554" y="3114835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8B202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EastAsian Agent: 2 (Unacceptable)</a:t>
              </a:r>
            </a:p>
          </p:txBody>
        </p:sp>
        <p:sp>
          <p:nvSpPr>
            <p:cNvPr id="125" name="ln5"/>
            <p:cNvSpPr txBox="1"/>
            <p:nvPr/>
          </p:nvSpPr>
          <p:spPr>
            <a:xfrm>
              <a:off x="3564420" y="3114835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Must pour for others first</a:t>
              </a:r>
            </a:p>
          </p:txBody>
        </p:sp>
        <p:sp>
          <p:nvSpPr>
            <p:cNvPr id="129" name="larr"/>
            <p:cNvSpPr/>
            <p:nvPr/>
          </p:nvSpPr>
          <p:spPr>
            <a:xfrm>
              <a:off x="2366555" y="3434875"/>
              <a:ext cx="201168" cy="16459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8AACC8"/>
            </a:solidFill>
            <a:ln w="0">
              <a:noFill/>
            </a:ln>
          </p:spPr>
          <p:txBody>
            <a:bodyPr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lrb"/>
            <p:cNvSpPr/>
            <p:nvPr/>
          </p:nvSpPr>
          <p:spPr>
            <a:xfrm>
              <a:off x="1322833" y="3636043"/>
              <a:ext cx="3348009" cy="301752"/>
            </a:xfrm>
            <a:prstGeom prst="roundRect">
              <a:avLst>
                <a:gd name="adj" fmla="val 8000"/>
              </a:avLst>
            </a:prstGeom>
            <a:solidFill>
              <a:srgbClr val="E8A5A5"/>
            </a:solidFill>
            <a:ln w="25400">
              <a:solidFill>
                <a:srgbClr val="CF7070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lrt"/>
            <p:cNvSpPr txBox="1"/>
            <p:nvPr/>
          </p:nvSpPr>
          <p:spPr>
            <a:xfrm>
              <a:off x="1322834" y="3626956"/>
              <a:ext cx="3348008" cy="301752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ctr"/>
              <a:r>
                <a:rPr lang="en-US" sz="1000" b="1" dirty="0">
                  <a:solidFill>
                    <a:srgbClr val="8B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Majority Vote: 1 (Acceptable)</a:t>
              </a:r>
              <a:endParaRPr lang="en-US" sz="10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lex"/>
            <p:cNvSpPr txBox="1"/>
            <p:nvPr/>
          </p:nvSpPr>
          <p:spPr>
            <a:xfrm>
              <a:off x="1322833" y="4033806"/>
              <a:ext cx="3961530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t"/>
            <a:lstStyle/>
            <a:p>
              <a:pPr algn="ctr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 out of 6 agents lack knowledge of Korean etiquette.</a:t>
              </a:r>
            </a:p>
            <a:p>
              <a:pPr algn="ctr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one correct agent is overruled by majority.</a:t>
              </a:r>
            </a:p>
          </p:txBody>
        </p:sp>
        <p:sp>
          <p:nvSpPr>
            <p:cNvPr id="133" name="rp"/>
            <p:cNvSpPr/>
            <p:nvPr/>
          </p:nvSpPr>
          <p:spPr>
            <a:xfrm>
              <a:off x="5387478" y="1022383"/>
              <a:ext cx="4947775" cy="3395093"/>
            </a:xfrm>
            <a:prstGeom prst="roundRect">
              <a:avLst>
                <a:gd name="adj" fmla="val 5000"/>
              </a:avLst>
            </a:prstGeom>
            <a:solidFill>
              <a:srgbClr val="D4EAEA"/>
            </a:solidFill>
            <a:ln w="1905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rh"/>
            <p:cNvSpPr txBox="1"/>
            <p:nvPr/>
          </p:nvSpPr>
          <p:spPr>
            <a:xfrm>
              <a:off x="5668616" y="1049815"/>
              <a:ext cx="2360586" cy="237744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4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HFCAC</a:t>
              </a:r>
            </a:p>
          </p:txBody>
        </p:sp>
        <p:sp>
          <p:nvSpPr>
            <p:cNvPr id="135" name="gb"/>
            <p:cNvSpPr/>
            <p:nvPr/>
          </p:nvSpPr>
          <p:spPr>
            <a:xfrm>
              <a:off x="5723480" y="1351567"/>
              <a:ext cx="2517958" cy="320040"/>
            </a:xfrm>
            <a:prstGeom prst="roundRect">
              <a:avLst>
                <a:gd name="adj" fmla="val 5000"/>
              </a:avLst>
            </a:prstGeom>
            <a:solidFill>
              <a:srgbClr val="C2D9A8"/>
            </a:solidFill>
            <a:ln w="1905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gt2"/>
            <p:cNvSpPr txBox="1"/>
            <p:nvPr/>
          </p:nvSpPr>
          <p:spPr>
            <a:xfrm>
              <a:off x="5769199" y="1351567"/>
              <a:ext cx="2439272" cy="320040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D4A8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★ </a:t>
              </a:r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 (EastAsian): 2 (Unacceptable)</a:t>
              </a:r>
            </a:p>
          </p:txBody>
        </p:sp>
        <p:sp>
          <p:nvSpPr>
            <p:cNvPr id="137" name="gn"/>
            <p:cNvSpPr txBox="1"/>
            <p:nvPr/>
          </p:nvSpPr>
          <p:spPr>
            <a:xfrm>
              <a:off x="8287285" y="1351567"/>
              <a:ext cx="1978587" cy="320040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Primary authority</a:t>
              </a:r>
              <a:r>
                <a:rPr lang="zh-CN" alt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 Korean culture</a:t>
              </a:r>
            </a:p>
          </p:txBody>
        </p:sp>
        <p:sp>
          <p:nvSpPr>
            <p:cNvPr id="139" name="au0"/>
            <p:cNvSpPr/>
            <p:nvPr/>
          </p:nvSpPr>
          <p:spPr>
            <a:xfrm>
              <a:off x="5723480" y="1737791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at0"/>
            <p:cNvSpPr txBox="1"/>
            <p:nvPr/>
          </p:nvSpPr>
          <p:spPr>
            <a:xfrm>
              <a:off x="5769199" y="1737791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Auditor (Western): 1</a:t>
              </a:r>
              <a:r>
                <a:rPr lang="zh-CN" alt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(Acceptable)</a:t>
              </a:r>
              <a:endParaRPr lang="en-US" sz="1000" b="1" dirty="0">
                <a:solidFill>
                  <a:srgbClr val="3D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an0"/>
            <p:cNvSpPr txBox="1"/>
            <p:nvPr/>
          </p:nvSpPr>
          <p:spPr>
            <a:xfrm>
              <a:off x="8287285" y="1781335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such norm in own culture</a:t>
              </a:r>
            </a:p>
          </p:txBody>
        </p:sp>
        <p:sp>
          <p:nvSpPr>
            <p:cNvPr id="142" name="au1"/>
            <p:cNvSpPr/>
            <p:nvPr/>
          </p:nvSpPr>
          <p:spPr>
            <a:xfrm>
              <a:off x="5723480" y="2089835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at1"/>
            <p:cNvSpPr txBox="1"/>
            <p:nvPr/>
          </p:nvSpPr>
          <p:spPr>
            <a:xfrm>
              <a:off x="5769199" y="2089835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Auditor (LatAm): 1</a:t>
              </a:r>
              <a:r>
                <a:rPr lang="zh-CN" alt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(Acceptable)</a:t>
              </a:r>
              <a:endParaRPr lang="en-US" sz="1000" b="1" dirty="0">
                <a:solidFill>
                  <a:srgbClr val="3D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an1"/>
            <p:cNvSpPr txBox="1"/>
            <p:nvPr/>
          </p:nvSpPr>
          <p:spPr>
            <a:xfrm>
              <a:off x="8287285" y="2133379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Casual pouring is fine</a:t>
              </a:r>
            </a:p>
          </p:txBody>
        </p:sp>
        <p:sp>
          <p:nvSpPr>
            <p:cNvPr id="145" name="au2"/>
            <p:cNvSpPr/>
            <p:nvPr/>
          </p:nvSpPr>
          <p:spPr>
            <a:xfrm>
              <a:off x="5723480" y="2441879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at2"/>
            <p:cNvSpPr txBox="1"/>
            <p:nvPr/>
          </p:nvSpPr>
          <p:spPr>
            <a:xfrm>
              <a:off x="5769199" y="2441879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Auditor (African): 1</a:t>
              </a:r>
              <a:r>
                <a:rPr lang="zh-CN" alt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(Acceptable)</a:t>
              </a:r>
              <a:endParaRPr lang="en-US" sz="1000" b="1" dirty="0">
                <a:solidFill>
                  <a:srgbClr val="3D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an2"/>
            <p:cNvSpPr txBox="1"/>
            <p:nvPr/>
          </p:nvSpPr>
          <p:spPr>
            <a:xfrm>
              <a:off x="8287285" y="2485423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parallel etiquette rule</a:t>
              </a:r>
            </a:p>
          </p:txBody>
        </p:sp>
        <p:sp>
          <p:nvSpPr>
            <p:cNvPr id="148" name="au3"/>
            <p:cNvSpPr/>
            <p:nvPr/>
          </p:nvSpPr>
          <p:spPr>
            <a:xfrm>
              <a:off x="5723480" y="2793923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at3"/>
            <p:cNvSpPr txBox="1"/>
            <p:nvPr/>
          </p:nvSpPr>
          <p:spPr>
            <a:xfrm>
              <a:off x="5769199" y="2793923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Auditor (Islamic): 1</a:t>
              </a:r>
              <a:r>
                <a:rPr lang="zh-CN" alt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(Acceptable)</a:t>
              </a:r>
              <a:endParaRPr lang="en-US" sz="1000" b="1" dirty="0">
                <a:solidFill>
                  <a:srgbClr val="3D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an3"/>
            <p:cNvSpPr txBox="1"/>
            <p:nvPr/>
          </p:nvSpPr>
          <p:spPr>
            <a:xfrm>
              <a:off x="8287285" y="2837467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drink-order taboo</a:t>
              </a:r>
            </a:p>
          </p:txBody>
        </p:sp>
        <p:sp>
          <p:nvSpPr>
            <p:cNvPr id="151" name="au4"/>
            <p:cNvSpPr/>
            <p:nvPr/>
          </p:nvSpPr>
          <p:spPr>
            <a:xfrm>
              <a:off x="5723480" y="3145967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at4"/>
            <p:cNvSpPr txBox="1"/>
            <p:nvPr/>
          </p:nvSpPr>
          <p:spPr>
            <a:xfrm>
              <a:off x="5769199" y="3145967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Auditor (SouthAsian): 1</a:t>
              </a:r>
              <a:r>
                <a:rPr lang="zh-CN" alt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(Acceptable)</a:t>
              </a:r>
              <a:endParaRPr lang="en-US" sz="1000" b="1" dirty="0">
                <a:solidFill>
                  <a:srgbClr val="3D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an4"/>
            <p:cNvSpPr txBox="1"/>
            <p:nvPr/>
          </p:nvSpPr>
          <p:spPr>
            <a:xfrm>
              <a:off x="8287285" y="3189511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Self-serving is normal</a:t>
              </a:r>
            </a:p>
          </p:txBody>
        </p:sp>
        <p:sp>
          <p:nvSpPr>
            <p:cNvPr id="157" name="rarr"/>
            <p:cNvSpPr/>
            <p:nvPr/>
          </p:nvSpPr>
          <p:spPr>
            <a:xfrm>
              <a:off x="6928378" y="3431827"/>
              <a:ext cx="201168" cy="16459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8BBCBC"/>
            </a:solidFill>
            <a:ln w="0">
              <a:noFill/>
            </a:ln>
          </p:spPr>
          <p:txBody>
            <a:bodyPr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rrb"/>
            <p:cNvSpPr/>
            <p:nvPr/>
          </p:nvSpPr>
          <p:spPr>
            <a:xfrm>
              <a:off x="5723480" y="3645686"/>
              <a:ext cx="3840480" cy="301752"/>
            </a:xfrm>
            <a:prstGeom prst="roundRect">
              <a:avLst>
                <a:gd name="adj" fmla="val 8000"/>
              </a:avLst>
            </a:prstGeom>
            <a:solidFill>
              <a:srgbClr val="A3D4B5"/>
            </a:solidFill>
            <a:ln w="25400">
              <a:solidFill>
                <a:srgbClr val="6BA886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rrt"/>
            <p:cNvSpPr txBox="1"/>
            <p:nvPr/>
          </p:nvSpPr>
          <p:spPr>
            <a:xfrm>
              <a:off x="5723046" y="3645680"/>
              <a:ext cx="3840480" cy="301752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ctr"/>
              <a:r>
                <a:rPr lang="en-US" sz="1000" b="1" dirty="0">
                  <a:solidFill>
                    <a:srgbClr val="1A5C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Judge: 2 (Unacceptable)</a:t>
              </a:r>
              <a:endParaRPr lang="en-US" sz="1000" b="1" dirty="0">
                <a:solidFill>
                  <a:srgbClr val="1A7A3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rex"/>
            <p:cNvSpPr txBox="1"/>
            <p:nvPr/>
          </p:nvSpPr>
          <p:spPr>
            <a:xfrm>
              <a:off x="5723045" y="4030758"/>
              <a:ext cx="4542827" cy="389766"/>
            </a:xfrm>
            <a:prstGeom prst="rect">
              <a:avLst/>
            </a:prstGeom>
            <a:noFill/>
          </p:spPr>
          <p:txBody>
            <a:bodyPr wrap="square" lIns="36000" tIns="18000" rIns="36000" bIns="18000" anchor="t"/>
            <a:lstStyle/>
            <a:p>
              <a:pPr algn="ctr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Guardian’s cultural evidence overrides 5-to-1 majority.</a:t>
              </a:r>
            </a:p>
            <a:p>
              <a:pPr algn="ctr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“Who knows best” matters more than “who votes most.”</a:t>
              </a:r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8A7ABB37-A89C-1ED5-B505-3AFC8AF4C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1816" b="39497" l="7889" r="20199"/>
                      </a14:imgEffect>
                    </a14:imgLayer>
                  </a14:imgProps>
                </a:ext>
              </a:extLst>
            </a:blip>
            <a:srcRect l="6350" t="8356" r="78262" b="57043"/>
            <a:stretch>
              <a:fillRect/>
            </a:stretch>
          </p:blipFill>
          <p:spPr>
            <a:xfrm>
              <a:off x="990073" y="2699818"/>
              <a:ext cx="348095" cy="425903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6CD57AB-1583-CD11-F09C-CAF568B95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0513" b="83445" l="19218" r="28131">
                          <a14:foregroundMark x1="22359" y1="61835" x2="26773" y2="62633"/>
                        </a14:backgroundRemoval>
                      </a14:imgEffect>
                    </a14:imgLayer>
                  </a14:imgProps>
                </a:ext>
              </a:extLst>
            </a:blip>
            <a:srcRect l="18104" t="57647" r="70755" b="13689"/>
            <a:stretch>
              <a:fillRect/>
            </a:stretch>
          </p:blipFill>
          <p:spPr>
            <a:xfrm>
              <a:off x="1010534" y="2326475"/>
              <a:ext cx="326571" cy="457196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8B91149-D8CC-D2AB-720E-E22A5B57D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5285" b="39434" l="59270" r="69252"/>
                      </a14:imgEffect>
                    </a14:imgLayer>
                  </a14:imgProps>
                </a:ext>
              </a:extLst>
            </a:blip>
            <a:srcRect l="58022" t="12267" r="29500" b="57547"/>
            <a:stretch>
              <a:fillRect/>
            </a:stretch>
          </p:blipFill>
          <p:spPr>
            <a:xfrm>
              <a:off x="1004095" y="1961933"/>
              <a:ext cx="347989" cy="45807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F247FDA-3BC1-C43D-C4A6-2382844E7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6417" b="40173" l="89055" r="98158"/>
                      </a14:imgEffect>
                    </a14:imgLayer>
                  </a14:imgProps>
                </a:ext>
              </a:extLst>
            </a:blip>
            <a:srcRect l="87917" t="13447" r="704" b="56857"/>
            <a:stretch>
              <a:fillRect/>
            </a:stretch>
          </p:blipFill>
          <p:spPr>
            <a:xfrm>
              <a:off x="1028678" y="1584492"/>
              <a:ext cx="322459" cy="457889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12ED27C-7513-9E50-7D00-85D743088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6909" b="40658" l="46413" r="56395"/>
                      </a14:imgEffect>
                    </a14:imgLayer>
                  </a14:imgProps>
                </a:ext>
              </a:extLst>
            </a:blip>
            <a:srcRect l="45165" t="13940" r="42357" b="56373"/>
            <a:stretch>
              <a:fillRect/>
            </a:stretch>
          </p:blipFill>
          <p:spPr>
            <a:xfrm>
              <a:off x="999286" y="1239144"/>
              <a:ext cx="357609" cy="462971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47C91EB-4EC3-B83A-7CCA-7D58AC8D7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5908" b="40930" l="45591" r="56197"/>
                      </a14:imgEffect>
                    </a14:imgLayer>
                  </a14:imgProps>
                </a:ext>
              </a:extLst>
            </a:blip>
            <a:srcRect l="44265" t="12780" r="42477" b="55942"/>
            <a:stretch>
              <a:fillRect/>
            </a:stretch>
          </p:blipFill>
          <p:spPr>
            <a:xfrm>
              <a:off x="1012371" y="3046628"/>
              <a:ext cx="341618" cy="43853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778B981-4582-06DD-CA24-83B6A712F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1816" b="39497" l="7889" r="20199"/>
                      </a14:imgEffect>
                    </a14:imgLayer>
                  </a14:imgProps>
                </a:ext>
              </a:extLst>
            </a:blip>
            <a:srcRect l="6350" t="8356" r="78262" b="57043"/>
            <a:stretch>
              <a:fillRect/>
            </a:stretch>
          </p:blipFill>
          <p:spPr>
            <a:xfrm>
              <a:off x="5389454" y="3118970"/>
              <a:ext cx="348095" cy="42590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E27C38E3-4D80-2B92-009F-7142099AD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0513" b="83445" l="19218" r="28131">
                          <a14:foregroundMark x1="22359" y1="61835" x2="26773" y2="62633"/>
                        </a14:backgroundRemoval>
                      </a14:imgEffect>
                    </a14:imgLayer>
                  </a14:imgProps>
                </a:ext>
              </a:extLst>
            </a:blip>
            <a:srcRect l="18104" t="57647" r="70755" b="13689"/>
            <a:stretch>
              <a:fillRect/>
            </a:stretch>
          </p:blipFill>
          <p:spPr>
            <a:xfrm>
              <a:off x="5398458" y="2743635"/>
              <a:ext cx="326571" cy="457196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62A549B-F91C-8327-2D09-EB3A16B94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5285" b="39434" l="59270" r="69252"/>
                      </a14:imgEffect>
                    </a14:imgLayer>
                  </a14:imgProps>
                </a:ext>
              </a:extLst>
            </a:blip>
            <a:srcRect l="58022" t="12267" r="29500" b="57547"/>
            <a:stretch>
              <a:fillRect/>
            </a:stretch>
          </p:blipFill>
          <p:spPr>
            <a:xfrm>
              <a:off x="5384635" y="2380043"/>
              <a:ext cx="347989" cy="458076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9F5D263-540B-C51F-0735-419F51AE1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6417" b="40173" l="89055" r="98158"/>
                      </a14:imgEffect>
                    </a14:imgLayer>
                  </a14:imgProps>
                </a:ext>
              </a:extLst>
            </a:blip>
            <a:srcRect l="87917" t="13447" r="704" b="56857"/>
            <a:stretch>
              <a:fillRect/>
            </a:stretch>
          </p:blipFill>
          <p:spPr>
            <a:xfrm>
              <a:off x="5405731" y="2003251"/>
              <a:ext cx="322459" cy="457889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2B0917A8-174F-BA16-1EEF-659CDB16F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5908" b="40930" l="45591" r="56197"/>
                      </a14:imgEffect>
                    </a14:imgLayer>
                  </a14:imgProps>
                </a:ext>
              </a:extLst>
            </a:blip>
            <a:srcRect l="44265" t="12780" r="42477" b="55942"/>
            <a:stretch>
              <a:fillRect/>
            </a:stretch>
          </p:blipFill>
          <p:spPr>
            <a:xfrm>
              <a:off x="5398458" y="1287559"/>
              <a:ext cx="341618" cy="438539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6EA0FE4-3FB2-2935-947E-37CEA2865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6909" b="40658" l="46413" r="56395"/>
                      </a14:imgEffect>
                    </a14:imgLayer>
                  </a14:imgProps>
                </a:ext>
              </a:extLst>
            </a:blip>
            <a:srcRect l="45165" t="13940" r="42357" b="56373"/>
            <a:stretch>
              <a:fillRect/>
            </a:stretch>
          </p:blipFill>
          <p:spPr>
            <a:xfrm>
              <a:off x="5376675" y="1641173"/>
              <a:ext cx="357609" cy="462971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41D43004-456E-01A2-248E-82B20F138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50188" y="382991"/>
              <a:ext cx="469639" cy="4696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ffinityMatrix"/>
          <p:cNvGrpSpPr/>
          <p:nvPr/>
        </p:nvGrpSpPr>
        <p:grpSpPr>
          <a:xfrm>
            <a:off x="4953344" y="2780369"/>
            <a:ext cx="864000" cy="864000"/>
            <a:chOff x="5798296" y="6137028"/>
            <a:chExt cx="864000" cy="864000"/>
          </a:xfrm>
        </p:grpSpPr>
        <p:sp>
          <p:nvSpPr>
            <p:cNvPr id="3" name="Cell_0_0"/>
            <p:cNvSpPr/>
            <p:nvPr/>
          </p:nvSpPr>
          <p:spPr>
            <a:xfrm>
              <a:off x="5798296" y="6137028"/>
              <a:ext cx="144000" cy="144000"/>
            </a:xfrm>
            <a:prstGeom prst="rect">
              <a:avLst/>
            </a:prstGeom>
            <a:solidFill>
              <a:srgbClr val="3D7F85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4" name="Cell_0_1"/>
            <p:cNvSpPr/>
            <p:nvPr/>
          </p:nvSpPr>
          <p:spPr>
            <a:xfrm>
              <a:off x="5942296" y="6137028"/>
              <a:ext cx="144000" cy="144000"/>
            </a:xfrm>
            <a:prstGeom prst="rect">
              <a:avLst/>
            </a:prstGeom>
            <a:solidFill>
              <a:srgbClr val="6FA09A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5" name="Cell_0_2"/>
            <p:cNvSpPr/>
            <p:nvPr/>
          </p:nvSpPr>
          <p:spPr>
            <a:xfrm>
              <a:off x="6086296" y="6137028"/>
              <a:ext cx="144000" cy="144000"/>
            </a:xfrm>
            <a:prstGeom prst="rect">
              <a:avLst/>
            </a:prstGeom>
            <a:solidFill>
              <a:srgbClr val="C7DACF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6" name="Cell_0_3"/>
            <p:cNvSpPr/>
            <p:nvPr/>
          </p:nvSpPr>
          <p:spPr>
            <a:xfrm>
              <a:off x="6230296" y="6137028"/>
              <a:ext cx="144000" cy="144000"/>
            </a:xfrm>
            <a:prstGeom prst="rect">
              <a:avLst/>
            </a:prstGeom>
            <a:solidFill>
              <a:srgbClr val="B8D0C2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7" name="Cell_0_4"/>
            <p:cNvSpPr/>
            <p:nvPr/>
          </p:nvSpPr>
          <p:spPr>
            <a:xfrm>
              <a:off x="6374296" y="6137028"/>
              <a:ext cx="144000" cy="144000"/>
            </a:xfrm>
            <a:prstGeom prst="rect">
              <a:avLst/>
            </a:prstGeom>
            <a:solidFill>
              <a:srgbClr val="CEDED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8" name="Cell_0_5"/>
            <p:cNvSpPr/>
            <p:nvPr/>
          </p:nvSpPr>
          <p:spPr>
            <a:xfrm>
              <a:off x="6518296" y="6137028"/>
              <a:ext cx="144000" cy="144000"/>
            </a:xfrm>
            <a:prstGeom prst="rect">
              <a:avLst/>
            </a:prstGeom>
            <a:solidFill>
              <a:srgbClr val="B0CABB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9" name="Cell_1_0"/>
            <p:cNvSpPr/>
            <p:nvPr/>
          </p:nvSpPr>
          <p:spPr>
            <a:xfrm>
              <a:off x="5798296" y="6281028"/>
              <a:ext cx="144000" cy="144000"/>
            </a:xfrm>
            <a:prstGeom prst="rect">
              <a:avLst/>
            </a:prstGeom>
            <a:solidFill>
              <a:srgbClr val="6FA09A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0" name="Cell_1_1"/>
            <p:cNvSpPr/>
            <p:nvPr/>
          </p:nvSpPr>
          <p:spPr>
            <a:xfrm>
              <a:off x="5942296" y="6281028"/>
              <a:ext cx="144000" cy="144000"/>
            </a:xfrm>
            <a:prstGeom prst="rect">
              <a:avLst/>
            </a:prstGeom>
            <a:solidFill>
              <a:srgbClr val="3D7F85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1" name="Cell_1_2"/>
            <p:cNvSpPr/>
            <p:nvPr/>
          </p:nvSpPr>
          <p:spPr>
            <a:xfrm>
              <a:off x="6086296" y="6281028"/>
              <a:ext cx="144000" cy="144000"/>
            </a:xfrm>
            <a:prstGeom prst="rect">
              <a:avLst/>
            </a:prstGeom>
            <a:solidFill>
              <a:srgbClr val="A8C5B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2" name="Cell_1_3"/>
            <p:cNvSpPr/>
            <p:nvPr/>
          </p:nvSpPr>
          <p:spPr>
            <a:xfrm>
              <a:off x="6230296" y="6281028"/>
              <a:ext cx="144000" cy="144000"/>
            </a:xfrm>
            <a:prstGeom prst="rect">
              <a:avLst/>
            </a:prstGeom>
            <a:solidFill>
              <a:srgbClr val="C0D6CA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3" name="Cell_1_4"/>
            <p:cNvSpPr/>
            <p:nvPr/>
          </p:nvSpPr>
          <p:spPr>
            <a:xfrm>
              <a:off x="6374296" y="6281028"/>
              <a:ext cx="144000" cy="144000"/>
            </a:xfrm>
            <a:prstGeom prst="rect">
              <a:avLst/>
            </a:prstGeom>
            <a:solidFill>
              <a:srgbClr val="95B8AB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4" name="Cell_1_5"/>
            <p:cNvSpPr/>
            <p:nvPr/>
          </p:nvSpPr>
          <p:spPr>
            <a:xfrm>
              <a:off x="6518296" y="6281028"/>
              <a:ext cx="144000" cy="144000"/>
            </a:xfrm>
            <a:prstGeom prst="rect">
              <a:avLst/>
            </a:prstGeom>
            <a:solidFill>
              <a:srgbClr val="A8C5B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5" name="Cell_2_0"/>
            <p:cNvSpPr/>
            <p:nvPr/>
          </p:nvSpPr>
          <p:spPr>
            <a:xfrm>
              <a:off x="5798296" y="6425028"/>
              <a:ext cx="144000" cy="144000"/>
            </a:xfrm>
            <a:prstGeom prst="rect">
              <a:avLst/>
            </a:prstGeom>
            <a:solidFill>
              <a:srgbClr val="C7DACF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6" name="Cell_2_1"/>
            <p:cNvSpPr/>
            <p:nvPr/>
          </p:nvSpPr>
          <p:spPr>
            <a:xfrm>
              <a:off x="5942296" y="6425028"/>
              <a:ext cx="144000" cy="144000"/>
            </a:xfrm>
            <a:prstGeom prst="rect">
              <a:avLst/>
            </a:prstGeom>
            <a:solidFill>
              <a:srgbClr val="A8C5B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7" name="Cell_2_2"/>
            <p:cNvSpPr/>
            <p:nvPr/>
          </p:nvSpPr>
          <p:spPr>
            <a:xfrm>
              <a:off x="6086296" y="6425028"/>
              <a:ext cx="144000" cy="144000"/>
            </a:xfrm>
            <a:prstGeom prst="rect">
              <a:avLst/>
            </a:prstGeom>
            <a:solidFill>
              <a:srgbClr val="3D7F85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8" name="Cell_2_3"/>
            <p:cNvSpPr/>
            <p:nvPr/>
          </p:nvSpPr>
          <p:spPr>
            <a:xfrm>
              <a:off x="6230296" y="6425028"/>
              <a:ext cx="144000" cy="144000"/>
            </a:xfrm>
            <a:prstGeom prst="rect">
              <a:avLst/>
            </a:prstGeom>
            <a:solidFill>
              <a:srgbClr val="CEDED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9" name="Cell_2_4"/>
            <p:cNvSpPr/>
            <p:nvPr/>
          </p:nvSpPr>
          <p:spPr>
            <a:xfrm>
              <a:off x="6374296" y="6425028"/>
              <a:ext cx="144000" cy="144000"/>
            </a:xfrm>
            <a:prstGeom prst="rect">
              <a:avLst/>
            </a:prstGeom>
            <a:solidFill>
              <a:srgbClr val="D5E2D9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0" name="Cell_2_5"/>
            <p:cNvSpPr/>
            <p:nvPr/>
          </p:nvSpPr>
          <p:spPr>
            <a:xfrm>
              <a:off x="6518296" y="6425028"/>
              <a:ext cx="144000" cy="144000"/>
            </a:xfrm>
            <a:prstGeom prst="rect">
              <a:avLst/>
            </a:prstGeom>
            <a:solidFill>
              <a:srgbClr val="B8D0C2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1" name="Cell_3_0"/>
            <p:cNvSpPr/>
            <p:nvPr/>
          </p:nvSpPr>
          <p:spPr>
            <a:xfrm>
              <a:off x="5798296" y="6569028"/>
              <a:ext cx="144000" cy="144000"/>
            </a:xfrm>
            <a:prstGeom prst="rect">
              <a:avLst/>
            </a:prstGeom>
            <a:solidFill>
              <a:srgbClr val="B8D0C2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2" name="Cell_3_1"/>
            <p:cNvSpPr/>
            <p:nvPr/>
          </p:nvSpPr>
          <p:spPr>
            <a:xfrm>
              <a:off x="5942296" y="6569028"/>
              <a:ext cx="144000" cy="144000"/>
            </a:xfrm>
            <a:prstGeom prst="rect">
              <a:avLst/>
            </a:prstGeom>
            <a:solidFill>
              <a:srgbClr val="C0D6CA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3" name="Cell_3_2"/>
            <p:cNvSpPr/>
            <p:nvPr/>
          </p:nvSpPr>
          <p:spPr>
            <a:xfrm>
              <a:off x="6086296" y="6569028"/>
              <a:ext cx="144000" cy="144000"/>
            </a:xfrm>
            <a:prstGeom prst="rect">
              <a:avLst/>
            </a:prstGeom>
            <a:solidFill>
              <a:srgbClr val="CEDED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4" name="Cell_3_3"/>
            <p:cNvSpPr/>
            <p:nvPr/>
          </p:nvSpPr>
          <p:spPr>
            <a:xfrm>
              <a:off x="6230296" y="6569028"/>
              <a:ext cx="144000" cy="144000"/>
            </a:xfrm>
            <a:prstGeom prst="rect">
              <a:avLst/>
            </a:prstGeom>
            <a:solidFill>
              <a:srgbClr val="3D7F85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5" name="Cell_3_4"/>
            <p:cNvSpPr/>
            <p:nvPr/>
          </p:nvSpPr>
          <p:spPr>
            <a:xfrm>
              <a:off x="6374296" y="6569028"/>
              <a:ext cx="144000" cy="144000"/>
            </a:xfrm>
            <a:prstGeom prst="rect">
              <a:avLst/>
            </a:prstGeom>
            <a:solidFill>
              <a:srgbClr val="82ACA2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6" name="Cell_3_5"/>
            <p:cNvSpPr/>
            <p:nvPr/>
          </p:nvSpPr>
          <p:spPr>
            <a:xfrm>
              <a:off x="6518296" y="6569028"/>
              <a:ext cx="144000" cy="144000"/>
            </a:xfrm>
            <a:prstGeom prst="rect">
              <a:avLst/>
            </a:prstGeom>
            <a:solidFill>
              <a:srgbClr val="6FA09A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7" name="Cell_4_0"/>
            <p:cNvSpPr/>
            <p:nvPr/>
          </p:nvSpPr>
          <p:spPr>
            <a:xfrm>
              <a:off x="5798296" y="6713028"/>
              <a:ext cx="144000" cy="144000"/>
            </a:xfrm>
            <a:prstGeom prst="rect">
              <a:avLst/>
            </a:prstGeom>
            <a:solidFill>
              <a:srgbClr val="CEDED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8" name="Cell_4_1"/>
            <p:cNvSpPr/>
            <p:nvPr/>
          </p:nvSpPr>
          <p:spPr>
            <a:xfrm>
              <a:off x="5942296" y="6713028"/>
              <a:ext cx="144000" cy="144000"/>
            </a:xfrm>
            <a:prstGeom prst="rect">
              <a:avLst/>
            </a:prstGeom>
            <a:solidFill>
              <a:srgbClr val="95B8AB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9" name="Cell_4_2"/>
            <p:cNvSpPr/>
            <p:nvPr/>
          </p:nvSpPr>
          <p:spPr>
            <a:xfrm>
              <a:off x="6086296" y="6713028"/>
              <a:ext cx="144000" cy="144000"/>
            </a:xfrm>
            <a:prstGeom prst="rect">
              <a:avLst/>
            </a:prstGeom>
            <a:solidFill>
              <a:srgbClr val="D5E2D9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0" name="Cell_4_3"/>
            <p:cNvSpPr/>
            <p:nvPr/>
          </p:nvSpPr>
          <p:spPr>
            <a:xfrm>
              <a:off x="6230296" y="6713028"/>
              <a:ext cx="144000" cy="144000"/>
            </a:xfrm>
            <a:prstGeom prst="rect">
              <a:avLst/>
            </a:prstGeom>
            <a:solidFill>
              <a:srgbClr val="82ACA2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1" name="Cell_4_4"/>
            <p:cNvSpPr/>
            <p:nvPr/>
          </p:nvSpPr>
          <p:spPr>
            <a:xfrm>
              <a:off x="6374296" y="6713028"/>
              <a:ext cx="144000" cy="144000"/>
            </a:xfrm>
            <a:prstGeom prst="rect">
              <a:avLst/>
            </a:prstGeom>
            <a:solidFill>
              <a:srgbClr val="3D7F85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2" name="Cell_4_5"/>
            <p:cNvSpPr/>
            <p:nvPr/>
          </p:nvSpPr>
          <p:spPr>
            <a:xfrm>
              <a:off x="6518296" y="6713028"/>
              <a:ext cx="144000" cy="144000"/>
            </a:xfrm>
            <a:prstGeom prst="rect">
              <a:avLst/>
            </a:prstGeom>
            <a:solidFill>
              <a:srgbClr val="A8C5B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3" name="Cell_5_0"/>
            <p:cNvSpPr/>
            <p:nvPr/>
          </p:nvSpPr>
          <p:spPr>
            <a:xfrm>
              <a:off x="5798296" y="6857028"/>
              <a:ext cx="144000" cy="144000"/>
            </a:xfrm>
            <a:prstGeom prst="rect">
              <a:avLst/>
            </a:prstGeom>
            <a:solidFill>
              <a:srgbClr val="B0CABB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4" name="Cell_5_1"/>
            <p:cNvSpPr/>
            <p:nvPr/>
          </p:nvSpPr>
          <p:spPr>
            <a:xfrm>
              <a:off x="5942296" y="6857028"/>
              <a:ext cx="144000" cy="144000"/>
            </a:xfrm>
            <a:prstGeom prst="rect">
              <a:avLst/>
            </a:prstGeom>
            <a:solidFill>
              <a:srgbClr val="A8C5B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5" name="Cell_5_2"/>
            <p:cNvSpPr/>
            <p:nvPr/>
          </p:nvSpPr>
          <p:spPr>
            <a:xfrm>
              <a:off x="6086296" y="6857028"/>
              <a:ext cx="144000" cy="144000"/>
            </a:xfrm>
            <a:prstGeom prst="rect">
              <a:avLst/>
            </a:prstGeom>
            <a:solidFill>
              <a:srgbClr val="B8D0C2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6" name="Cell_5_3"/>
            <p:cNvSpPr/>
            <p:nvPr/>
          </p:nvSpPr>
          <p:spPr>
            <a:xfrm>
              <a:off x="6230296" y="6857028"/>
              <a:ext cx="144000" cy="144000"/>
            </a:xfrm>
            <a:prstGeom prst="rect">
              <a:avLst/>
            </a:prstGeom>
            <a:solidFill>
              <a:srgbClr val="6FA09A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7" name="Cell_5_4"/>
            <p:cNvSpPr/>
            <p:nvPr/>
          </p:nvSpPr>
          <p:spPr>
            <a:xfrm>
              <a:off x="6374296" y="6857028"/>
              <a:ext cx="144000" cy="144000"/>
            </a:xfrm>
            <a:prstGeom prst="rect">
              <a:avLst/>
            </a:prstGeom>
            <a:solidFill>
              <a:srgbClr val="A8C5B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8" name="Cell_5_5"/>
            <p:cNvSpPr/>
            <p:nvPr/>
          </p:nvSpPr>
          <p:spPr>
            <a:xfrm>
              <a:off x="6518296" y="6857028"/>
              <a:ext cx="144000" cy="144000"/>
            </a:xfrm>
            <a:prstGeom prst="rect">
              <a:avLst/>
            </a:prstGeom>
            <a:solidFill>
              <a:srgbClr val="3D7F85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8230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3020">
          <a:solidFill>
            <a:schemeClr val="accent6">
              <a:lumMod val="75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475</Words>
  <Application>Microsoft Macintosh PowerPoint</Application>
  <PresentationFormat>宽屏</PresentationFormat>
  <Paragraphs>142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AAAI Figures</dc:title>
  <dc:subject>PptxGenJS Presentation</dc:subject>
  <dc:creator>PptxGenJS</dc:creator>
  <cp:lastModifiedBy>YZL</cp:lastModifiedBy>
  <cp:revision>174</cp:revision>
  <dcterms:created xsi:type="dcterms:W3CDTF">2026-07-04T14:34:00Z</dcterms:created>
  <dcterms:modified xsi:type="dcterms:W3CDTF">2026-08-23T04:24:36Z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2358453079674845AAEB5829E47CD550_13</vt:lpwstr>
  </property>
  <property fmtid="{D5CDD505-2E9C-101B-9397-08002B2CF9AE}" pid="3" name="KSOProductBuildVer">
    <vt:lpwstr>2052-12.1.0.26895</vt:lpwstr>
  </property>
</Properties>
</file>